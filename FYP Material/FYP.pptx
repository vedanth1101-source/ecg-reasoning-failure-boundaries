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3" d="100"/>
          <a:sy n="173" d="100"/>
        </p:scale>
        <p:origin x="69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85682" y="862823"/>
            <a:ext cx="1388745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31026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27030" y="1155235"/>
            <a:ext cx="3657600" cy="1088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84487" y="3102582"/>
            <a:ext cx="1719592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75698" y="3102582"/>
            <a:ext cx="252765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image" Target="../media/image4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slide" Target="slide17.xml"/><Relationship Id="rId5" Type="http://schemas.openxmlformats.org/officeDocument/2006/relationships/slide" Target="slide7.xml"/><Relationship Id="rId10" Type="http://schemas.openxmlformats.org/officeDocument/2006/relationships/slide" Target="slide15.xml"/><Relationship Id="rId4" Type="http://schemas.openxmlformats.org/officeDocument/2006/relationships/image" Target="../media/image2.png"/><Relationship Id="rId9" Type="http://schemas.openxmlformats.org/officeDocument/2006/relationships/slide" Target="slide9.xml"/><Relationship Id="rId1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5.findings-emnlp.385/" TargetMode="External"/><Relationship Id="rId3" Type="http://schemas.openxmlformats.org/officeDocument/2006/relationships/image" Target="../media/image38.png"/><Relationship Id="rId7" Type="http://schemas.openxmlformats.org/officeDocument/2006/relationships/hyperlink" Target="https://doi.org/10.1109/JBHI.2020.3022989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slide" Target="slide1.xml"/><Relationship Id="rId5" Type="http://schemas.openxmlformats.org/officeDocument/2006/relationships/image" Target="../media/image40.png"/><Relationship Id="rId10" Type="http://schemas.openxmlformats.org/officeDocument/2006/relationships/hyperlink" Target="https://openreview.net/forum?id=7MZc0QJ3d4" TargetMode="External"/><Relationship Id="rId4" Type="http://schemas.openxmlformats.org/officeDocument/2006/relationships/image" Target="../media/image39.png"/><Relationship Id="rId9" Type="http://schemas.openxmlformats.org/officeDocument/2006/relationships/hyperlink" Target="https://doi.org/10.1093/jamiaopen/ooaf122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vijay2310785@ssn.edu.i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1192" y="239534"/>
            <a:ext cx="5358130" cy="887697"/>
            <a:chOff x="201192" y="239534"/>
            <a:chExt cx="5358130" cy="887697"/>
          </a:xfrm>
        </p:grpSpPr>
        <p:sp>
          <p:nvSpPr>
            <p:cNvPr id="3" name="object 3"/>
            <p:cNvSpPr/>
            <p:nvPr/>
          </p:nvSpPr>
          <p:spPr>
            <a:xfrm>
              <a:off x="201192" y="239534"/>
              <a:ext cx="5358130" cy="82550"/>
            </a:xfrm>
            <a:custGeom>
              <a:avLst/>
              <a:gdLst/>
              <a:ahLst/>
              <a:cxnLst/>
              <a:rect l="l" t="t" r="r" b="b"/>
              <a:pathLst>
                <a:path w="5358130" h="82550">
                  <a:moveTo>
                    <a:pt x="530687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357673" y="82384"/>
                  </a:lnTo>
                  <a:lnTo>
                    <a:pt x="5357673" y="50800"/>
                  </a:lnTo>
                  <a:lnTo>
                    <a:pt x="5353664" y="31075"/>
                  </a:lnTo>
                  <a:lnTo>
                    <a:pt x="5342750" y="14922"/>
                  </a:lnTo>
                  <a:lnTo>
                    <a:pt x="5326598" y="4008"/>
                  </a:lnTo>
                  <a:lnTo>
                    <a:pt x="5306873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192" y="283951"/>
              <a:ext cx="5358130" cy="843280"/>
            </a:xfrm>
            <a:custGeom>
              <a:avLst/>
              <a:gdLst/>
              <a:ahLst/>
              <a:cxnLst/>
              <a:rect l="l" t="t" r="r" b="b"/>
              <a:pathLst>
                <a:path w="5358130" h="843280">
                  <a:moveTo>
                    <a:pt x="5357673" y="0"/>
                  </a:moveTo>
                  <a:lnTo>
                    <a:pt x="0" y="0"/>
                  </a:lnTo>
                  <a:lnTo>
                    <a:pt x="0" y="792322"/>
                  </a:lnTo>
                  <a:lnTo>
                    <a:pt x="4008" y="812047"/>
                  </a:lnTo>
                  <a:lnTo>
                    <a:pt x="14922" y="828200"/>
                  </a:lnTo>
                  <a:lnTo>
                    <a:pt x="31075" y="839114"/>
                  </a:lnTo>
                  <a:lnTo>
                    <a:pt x="50800" y="843122"/>
                  </a:lnTo>
                  <a:lnTo>
                    <a:pt x="5306873" y="843122"/>
                  </a:lnTo>
                  <a:lnTo>
                    <a:pt x="5326598" y="839114"/>
                  </a:lnTo>
                  <a:lnTo>
                    <a:pt x="5342750" y="828200"/>
                  </a:lnTo>
                  <a:lnTo>
                    <a:pt x="5353664" y="812047"/>
                  </a:lnTo>
                  <a:lnTo>
                    <a:pt x="5357673" y="792322"/>
                  </a:lnTo>
                  <a:lnTo>
                    <a:pt x="5357673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1993" y="302788"/>
            <a:ext cx="5358130" cy="8756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8920" marR="343535" algn="ctr">
              <a:lnSpc>
                <a:spcPct val="106700"/>
              </a:lnSpc>
              <a:spcBef>
                <a:spcPts val="330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Reasoning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Failure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Boundaries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ECG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Foundation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Under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Progressive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Physiological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endParaRPr sz="1400" dirty="0">
              <a:latin typeface="Tahoma"/>
              <a:cs typeface="Tahoma"/>
            </a:endParaRPr>
          </a:p>
          <a:p>
            <a:pPr marR="93345" algn="ctr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 Review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9024" y="1342985"/>
            <a:ext cx="2581910" cy="1499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Vijay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100" dirty="0">
                <a:latin typeface="Tahoma"/>
                <a:cs typeface="Tahoma"/>
              </a:rPr>
              <a:t>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(3122235001157)</a:t>
            </a:r>
            <a:endParaRPr sz="1100">
              <a:latin typeface="Tahoma"/>
              <a:cs typeface="Tahoma"/>
            </a:endParaRPr>
          </a:p>
          <a:p>
            <a:pPr marL="12700" marR="5080" algn="ctr">
              <a:lnSpc>
                <a:spcPct val="102600"/>
              </a:lnSpc>
            </a:pPr>
            <a:r>
              <a:rPr sz="1100" spc="-30" dirty="0">
                <a:latin typeface="Tahoma"/>
                <a:cs typeface="Tahoma"/>
              </a:rPr>
              <a:t>Siddharth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Chandrasekar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(3122235001310) </a:t>
            </a:r>
            <a:r>
              <a:rPr sz="1100" spc="-30" dirty="0">
                <a:latin typeface="Tahoma"/>
                <a:cs typeface="Tahoma"/>
              </a:rPr>
              <a:t>Vedanth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100" dirty="0">
                <a:latin typeface="Tahoma"/>
                <a:cs typeface="Tahoma"/>
              </a:rPr>
              <a:t>M</a:t>
            </a:r>
            <a:r>
              <a:rPr sz="1100" dirty="0">
                <a:latin typeface="Tahoma"/>
                <a:cs typeface="Tahoma"/>
              </a:rPr>
              <a:t> 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(3122235001314)</a:t>
            </a:r>
            <a:endParaRPr sz="1100">
              <a:latin typeface="Tahoma"/>
              <a:cs typeface="Tahoma"/>
            </a:endParaRPr>
          </a:p>
          <a:p>
            <a:pPr marL="32384" marR="24765" algn="ctr">
              <a:lnSpc>
                <a:spcPct val="157600"/>
              </a:lnSpc>
              <a:spcBef>
                <a:spcPts val="944"/>
              </a:spcBef>
            </a:pPr>
            <a:r>
              <a:rPr sz="800" spc="-20" dirty="0">
                <a:latin typeface="Arial"/>
                <a:cs typeface="Arial"/>
              </a:rPr>
              <a:t>Guided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by:</a:t>
            </a:r>
            <a:r>
              <a:rPr sz="800" spc="1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Dr.</a:t>
            </a:r>
            <a:r>
              <a:rPr sz="800" spc="1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Anusha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Jayasimhan,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Assistant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Professor </a:t>
            </a:r>
            <a:r>
              <a:rPr sz="800" dirty="0">
                <a:latin typeface="Arial"/>
                <a:cs typeface="Arial"/>
              </a:rPr>
              <a:t>Department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Computer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Science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Engineering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44"/>
              </a:lnSpc>
            </a:pPr>
            <a:r>
              <a:rPr sz="800" spc="-10" dirty="0">
                <a:latin typeface="Arial"/>
                <a:cs typeface="Arial"/>
              </a:rPr>
              <a:t>SSN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College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Engineering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30" dirty="0">
                <a:latin typeface="Tahoma"/>
                <a:cs typeface="Tahoma"/>
              </a:rPr>
              <a:t>Academic </a:t>
            </a:r>
            <a:r>
              <a:rPr sz="1100" spc="-45" dirty="0">
                <a:latin typeface="Tahoma"/>
                <a:cs typeface="Tahoma"/>
              </a:rPr>
              <a:t>Year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2026–</a:t>
            </a:r>
            <a:r>
              <a:rPr sz="1100" spc="-20" dirty="0">
                <a:latin typeface="Tahoma"/>
                <a:cs typeface="Tahoma"/>
              </a:rPr>
              <a:t>2027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5576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Presentation</a:t>
            </a:r>
            <a:r>
              <a:rPr spc="5" dirty="0"/>
              <a:t> </a:t>
            </a: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742" y="725093"/>
            <a:ext cx="160096" cy="1600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3204" y="72443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BF0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635" y="697000"/>
            <a:ext cx="734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solidFill>
                  <a:srgbClr val="103E6D"/>
                </a:solidFill>
                <a:latin typeface="Tahoma"/>
                <a:cs typeface="Tahoma"/>
                <a:hlinkClick r:id="rId3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742" y="1077506"/>
            <a:ext cx="160096" cy="160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3204" y="1049412"/>
            <a:ext cx="1206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6944" dirty="0">
                <a:solidFill>
                  <a:srgbClr val="E7EBF0"/>
                </a:solidFill>
                <a:latin typeface="Arial"/>
                <a:cs typeface="Arial"/>
              </a:rPr>
              <a:t>2</a:t>
            </a:r>
            <a:r>
              <a:rPr sz="1200" spc="292" baseline="6944" dirty="0">
                <a:solidFill>
                  <a:srgbClr val="E7EBF0"/>
                </a:solidFill>
                <a:latin typeface="Arial"/>
                <a:cs typeface="Arial"/>
              </a:rPr>
              <a:t>  </a:t>
            </a:r>
            <a:r>
              <a:rPr sz="1100" spc="-20" dirty="0">
                <a:solidFill>
                  <a:srgbClr val="103E6D"/>
                </a:solidFill>
                <a:latin typeface="Tahoma"/>
                <a:cs typeface="Tahoma"/>
                <a:hlinkClick r:id="rId5" action="ppaction://hlinksldjump"/>
              </a:rPr>
              <a:t>Literature</a:t>
            </a:r>
            <a:r>
              <a:rPr sz="1100" spc="5" dirty="0">
                <a:solidFill>
                  <a:srgbClr val="103E6D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103E6D"/>
                </a:solidFill>
                <a:latin typeface="Tahoma"/>
                <a:cs typeface="Tahoma"/>
                <a:hlinkClick r:id="rId5" action="ppaction://hlinksldjump"/>
              </a:rPr>
              <a:t>Review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2742" y="1429918"/>
            <a:ext cx="160096" cy="1600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3204" y="142926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BF0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742" y="1782343"/>
            <a:ext cx="160096" cy="1600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2742" y="2134755"/>
            <a:ext cx="160096" cy="16009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3204" y="213409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7EBF0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204" y="1401824"/>
            <a:ext cx="1803400" cy="8966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103E6D"/>
                </a:solidFill>
                <a:latin typeface="Tahoma"/>
                <a:cs typeface="Tahoma"/>
                <a:hlinkClick r:id="rId9" action="ppaction://hlinksldjump"/>
              </a:rPr>
              <a:t>System</a:t>
            </a:r>
            <a:r>
              <a:rPr sz="1100" spc="-50" dirty="0">
                <a:solidFill>
                  <a:srgbClr val="103E6D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1100" spc="-10" dirty="0">
                <a:solidFill>
                  <a:srgbClr val="103E6D"/>
                </a:solidFill>
                <a:latin typeface="Tahoma"/>
                <a:cs typeface="Tahoma"/>
                <a:hlinkClick r:id="rId9" action="ppaction://hlinksldjump"/>
              </a:rPr>
              <a:t>Design</a:t>
            </a:r>
            <a:endParaRPr sz="1100" dirty="0">
              <a:latin typeface="Tahoma"/>
              <a:cs typeface="Tahoma"/>
            </a:endParaRPr>
          </a:p>
          <a:p>
            <a:pPr marL="177800" marR="5080" indent="-165735">
              <a:lnSpc>
                <a:spcPct val="210200"/>
              </a:lnSpc>
            </a:pPr>
            <a:r>
              <a:rPr sz="1200" baseline="6944" dirty="0">
                <a:solidFill>
                  <a:srgbClr val="E7EBF0"/>
                </a:solidFill>
                <a:latin typeface="Arial"/>
                <a:cs typeface="Arial"/>
              </a:rPr>
              <a:t>4</a:t>
            </a:r>
            <a:r>
              <a:rPr sz="1200" spc="300" baseline="6944" dirty="0">
                <a:solidFill>
                  <a:srgbClr val="E7EBF0"/>
                </a:solidFill>
                <a:latin typeface="Arial"/>
                <a:cs typeface="Arial"/>
              </a:rPr>
              <a:t>  </a:t>
            </a:r>
            <a:r>
              <a:rPr sz="1100" spc="-50" dirty="0">
                <a:solidFill>
                  <a:srgbClr val="103E6D"/>
                </a:solidFill>
                <a:latin typeface="Tahoma"/>
                <a:cs typeface="Tahoma"/>
                <a:hlinkClick r:id="rId10" action="ppaction://hlinksldjump"/>
              </a:rPr>
              <a:t>Implementation</a:t>
            </a:r>
            <a:r>
              <a:rPr sz="1100" spc="10" dirty="0">
                <a:solidFill>
                  <a:srgbClr val="103E6D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1100" spc="-40" dirty="0">
                <a:solidFill>
                  <a:srgbClr val="103E6D"/>
                </a:solidFill>
                <a:latin typeface="Tahoma"/>
                <a:cs typeface="Tahoma"/>
                <a:hlinkClick r:id="rId10" action="ppaction://hlinksldjump"/>
              </a:rPr>
              <a:t>and</a:t>
            </a:r>
            <a:r>
              <a:rPr sz="1100" spc="5" dirty="0">
                <a:solidFill>
                  <a:srgbClr val="103E6D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1100" spc="-30" dirty="0">
                <a:solidFill>
                  <a:srgbClr val="103E6D"/>
                </a:solidFill>
                <a:latin typeface="Tahoma"/>
                <a:cs typeface="Tahoma"/>
                <a:hlinkClick r:id="rId10" action="ppaction://hlinksldjump"/>
              </a:rPr>
              <a:t>Results</a:t>
            </a:r>
            <a:r>
              <a:rPr sz="1100" spc="-30" dirty="0">
                <a:solidFill>
                  <a:srgbClr val="103E6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03E6D"/>
                </a:solidFill>
                <a:latin typeface="Tahoma"/>
                <a:cs typeface="Tahoma"/>
                <a:hlinkClick r:id="rId11" action="ppaction://hlinksldjump"/>
              </a:rPr>
              <a:t>Project</a:t>
            </a:r>
            <a:r>
              <a:rPr sz="1100" spc="-50" dirty="0">
                <a:solidFill>
                  <a:srgbClr val="103E6D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1100" spc="-10" dirty="0">
                <a:solidFill>
                  <a:srgbClr val="103E6D"/>
                </a:solidFill>
                <a:latin typeface="Tahoma"/>
                <a:cs typeface="Tahoma"/>
                <a:hlinkClick r:id="rId11" action="ppaction://hlinksldjump"/>
              </a:rPr>
              <a:t>Management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2742" y="2487167"/>
            <a:ext cx="160096" cy="1600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3204" y="2459074"/>
            <a:ext cx="813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6944" dirty="0">
                <a:solidFill>
                  <a:srgbClr val="E7EBF0"/>
                </a:solidFill>
                <a:latin typeface="Arial"/>
                <a:cs typeface="Arial"/>
              </a:rPr>
              <a:t>6</a:t>
            </a:r>
            <a:r>
              <a:rPr sz="1200" spc="307" baseline="6944" dirty="0">
                <a:solidFill>
                  <a:srgbClr val="E7EBF0"/>
                </a:solidFill>
                <a:latin typeface="Arial"/>
                <a:cs typeface="Arial"/>
              </a:rPr>
              <a:t>  </a:t>
            </a:r>
            <a:r>
              <a:rPr sz="1100" spc="-35" dirty="0">
                <a:solidFill>
                  <a:srgbClr val="103E6D"/>
                </a:solidFill>
                <a:latin typeface="Tahoma"/>
                <a:cs typeface="Tahoma"/>
                <a:hlinkClick r:id="rId13" action="ppaction://hlinksldjump"/>
              </a:rPr>
              <a:t>Conclusion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7" name="object 17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19197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2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Background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0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356" y="775079"/>
            <a:ext cx="2950210" cy="18548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312420" indent="-177165">
              <a:lnSpc>
                <a:spcPct val="102699"/>
              </a:lnSpc>
              <a:spcBef>
                <a:spcPts val="55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dirty="0">
                <a:latin typeface="Tahoma"/>
                <a:cs typeface="Tahoma"/>
              </a:rPr>
              <a:t>ECG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reason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well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when</a:t>
            </a:r>
            <a:r>
              <a:rPr sz="1100" spc="-10" dirty="0">
                <a:latin typeface="Tahoma"/>
                <a:cs typeface="Tahoma"/>
              </a:rPr>
              <a:t> the </a:t>
            </a:r>
            <a:r>
              <a:rPr sz="1100" spc="-20" dirty="0">
                <a:latin typeface="Tahoma"/>
                <a:cs typeface="Tahoma"/>
              </a:rPr>
              <a:t>full </a:t>
            </a:r>
            <a:r>
              <a:rPr sz="1100" spc="-35" dirty="0">
                <a:latin typeface="Tahoma"/>
                <a:cs typeface="Tahoma"/>
              </a:rPr>
              <a:t>physiological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picture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available</a:t>
            </a:r>
            <a:endParaRPr sz="1100">
              <a:latin typeface="Tahoma"/>
              <a:cs typeface="Tahoma"/>
            </a:endParaRPr>
          </a:p>
          <a:p>
            <a:pPr marL="189230" marR="107314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dirty="0">
                <a:latin typeface="Tahoma"/>
                <a:cs typeface="Tahoma"/>
              </a:rPr>
              <a:t>But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disappear,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available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support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disappears</a:t>
            </a:r>
            <a:endParaRPr sz="1100">
              <a:latin typeface="Tahoma"/>
              <a:cs typeface="Tahoma"/>
            </a:endParaRPr>
          </a:p>
          <a:p>
            <a:pPr marL="189230" marR="508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still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plausible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answer </a:t>
            </a:r>
            <a:r>
              <a:rPr sz="1100" spc="-65" dirty="0">
                <a:latin typeface="Tahoma"/>
                <a:cs typeface="Tahoma"/>
              </a:rPr>
              <a:t>even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physiological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45" dirty="0">
                <a:latin typeface="Tahoma"/>
                <a:cs typeface="Tahoma"/>
              </a:rPr>
              <a:t>becoming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insufficient</a:t>
            </a:r>
            <a:endParaRPr sz="1100">
              <a:latin typeface="Tahoma"/>
              <a:cs typeface="Tahoma"/>
            </a:endParaRPr>
          </a:p>
          <a:p>
            <a:pPr marL="189230" marR="17145" indent="-177165">
              <a:lnSpc>
                <a:spcPct val="102600"/>
              </a:lnSpc>
              <a:spcBef>
                <a:spcPts val="295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structured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help </a:t>
            </a:r>
            <a:r>
              <a:rPr sz="1100" spc="-55" dirty="0">
                <a:latin typeface="Tahoma"/>
                <a:cs typeface="Tahoma"/>
              </a:rPr>
              <a:t>preserve </a:t>
            </a:r>
            <a:r>
              <a:rPr sz="1100" spc="-65" dirty="0">
                <a:latin typeface="Tahoma"/>
                <a:cs typeface="Tahoma"/>
              </a:rPr>
              <a:t>grounded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without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replacing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missing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evidence?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59898" y="880769"/>
            <a:ext cx="2099310" cy="187960"/>
          </a:xfrm>
          <a:custGeom>
            <a:avLst/>
            <a:gdLst/>
            <a:ahLst/>
            <a:cxnLst/>
            <a:rect l="l" t="t" r="r" b="b"/>
            <a:pathLst>
              <a:path w="2099310" h="187959">
                <a:moveTo>
                  <a:pt x="204812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098929" y="187819"/>
                </a:lnTo>
                <a:lnTo>
                  <a:pt x="2098929" y="50800"/>
                </a:lnTo>
                <a:lnTo>
                  <a:pt x="2094921" y="31075"/>
                </a:lnTo>
                <a:lnTo>
                  <a:pt x="2084007" y="14922"/>
                </a:lnTo>
                <a:lnTo>
                  <a:pt x="2067854" y="4008"/>
                </a:lnTo>
                <a:lnTo>
                  <a:pt x="2048129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10699" y="849092"/>
            <a:ext cx="100266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Motivation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59898" y="1055941"/>
            <a:ext cx="2099310" cy="1097741"/>
            <a:chOff x="3459898" y="1055941"/>
            <a:chExt cx="2099310" cy="1097741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9898" y="1055941"/>
              <a:ext cx="2098929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459898" y="1100217"/>
              <a:ext cx="2099310" cy="1053465"/>
            </a:xfrm>
            <a:custGeom>
              <a:avLst/>
              <a:gdLst/>
              <a:ahLst/>
              <a:cxnLst/>
              <a:rect l="l" t="t" r="r" b="b"/>
              <a:pathLst>
                <a:path w="2099310" h="1053464">
                  <a:moveTo>
                    <a:pt x="2098929" y="0"/>
                  </a:moveTo>
                  <a:lnTo>
                    <a:pt x="0" y="0"/>
                  </a:lnTo>
                  <a:lnTo>
                    <a:pt x="0" y="1002470"/>
                  </a:lnTo>
                  <a:lnTo>
                    <a:pt x="4008" y="1022195"/>
                  </a:lnTo>
                  <a:lnTo>
                    <a:pt x="14922" y="1038348"/>
                  </a:lnTo>
                  <a:lnTo>
                    <a:pt x="31075" y="1049262"/>
                  </a:lnTo>
                  <a:lnTo>
                    <a:pt x="50800" y="1053271"/>
                  </a:lnTo>
                  <a:lnTo>
                    <a:pt x="2048129" y="1053271"/>
                  </a:lnTo>
                  <a:lnTo>
                    <a:pt x="2067854" y="1049262"/>
                  </a:lnTo>
                  <a:lnTo>
                    <a:pt x="2084007" y="1038348"/>
                  </a:lnTo>
                  <a:lnTo>
                    <a:pt x="2094921" y="1022195"/>
                  </a:lnTo>
                  <a:lnTo>
                    <a:pt x="2098929" y="1002470"/>
                  </a:lnTo>
                  <a:lnTo>
                    <a:pt x="2098929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10699" y="1070494"/>
            <a:ext cx="2099310" cy="1052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1430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understand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ECG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stops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trustworthy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physiological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evidence </a:t>
            </a:r>
            <a:r>
              <a:rPr sz="1100" spc="-50" dirty="0">
                <a:latin typeface="Tahoma"/>
                <a:cs typeface="Tahoma"/>
              </a:rPr>
              <a:t>disappears.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whether clinical</a:t>
            </a:r>
            <a:r>
              <a:rPr sz="1100" spc="-55" dirty="0">
                <a:latin typeface="Tahoma"/>
                <a:cs typeface="Tahoma"/>
              </a:rPr>
              <a:t> knowledge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help </a:t>
            </a:r>
            <a:r>
              <a:rPr sz="1100" spc="-65" dirty="0">
                <a:latin typeface="Tahoma"/>
                <a:cs typeface="Tahoma"/>
              </a:rPr>
              <a:t>preserve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longer.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2" name="object 12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3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201192" y="646734"/>
            <a:ext cx="5358130" cy="187960"/>
          </a:xfrm>
          <a:custGeom>
            <a:avLst/>
            <a:gdLst/>
            <a:ahLst/>
            <a:cxnLst/>
            <a:rect l="l" t="t" r="r" b="b"/>
            <a:pathLst>
              <a:path w="5358130" h="187959">
                <a:moveTo>
                  <a:pt x="530687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357673" y="187819"/>
                </a:lnTo>
                <a:lnTo>
                  <a:pt x="5357673" y="50800"/>
                </a:lnTo>
                <a:lnTo>
                  <a:pt x="5353664" y="31075"/>
                </a:lnTo>
                <a:lnTo>
                  <a:pt x="5342750" y="14922"/>
                </a:lnTo>
                <a:lnTo>
                  <a:pt x="5326598" y="4008"/>
                </a:lnTo>
                <a:lnTo>
                  <a:pt x="5306873" y="0"/>
                </a:lnTo>
                <a:close/>
              </a:path>
            </a:pathLst>
          </a:custGeom>
          <a:solidFill>
            <a:srgbClr val="166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993" y="615057"/>
            <a:ext cx="514984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192" y="821905"/>
            <a:ext cx="5358130" cy="409395"/>
            <a:chOff x="201192" y="821905"/>
            <a:chExt cx="5358130" cy="4093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92" y="821905"/>
              <a:ext cx="535767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1192" y="866175"/>
              <a:ext cx="5358130" cy="365125"/>
            </a:xfrm>
            <a:custGeom>
              <a:avLst/>
              <a:gdLst/>
              <a:ahLst/>
              <a:cxnLst/>
              <a:rect l="l" t="t" r="r" b="b"/>
              <a:pathLst>
                <a:path w="5358130" h="365125">
                  <a:moveTo>
                    <a:pt x="5357673" y="0"/>
                  </a:moveTo>
                  <a:lnTo>
                    <a:pt x="0" y="0"/>
                  </a:lnTo>
                  <a:lnTo>
                    <a:pt x="0" y="314162"/>
                  </a:lnTo>
                  <a:lnTo>
                    <a:pt x="4008" y="333887"/>
                  </a:lnTo>
                  <a:lnTo>
                    <a:pt x="14922" y="350040"/>
                  </a:lnTo>
                  <a:lnTo>
                    <a:pt x="31075" y="360954"/>
                  </a:lnTo>
                  <a:lnTo>
                    <a:pt x="50800" y="364962"/>
                  </a:lnTo>
                  <a:lnTo>
                    <a:pt x="5306873" y="364962"/>
                  </a:lnTo>
                  <a:lnTo>
                    <a:pt x="5326598" y="360954"/>
                  </a:lnTo>
                  <a:lnTo>
                    <a:pt x="5342750" y="350040"/>
                  </a:lnTo>
                  <a:lnTo>
                    <a:pt x="5353664" y="333887"/>
                  </a:lnTo>
                  <a:lnTo>
                    <a:pt x="5357673" y="314162"/>
                  </a:lnTo>
                  <a:lnTo>
                    <a:pt x="5357673" y="0"/>
                  </a:lnTo>
                  <a:close/>
                </a:path>
              </a:pathLst>
            </a:custGeom>
            <a:solidFill>
              <a:srgbClr val="E7E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1993" y="836458"/>
            <a:ext cx="5358130" cy="198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470534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Current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evaluation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characterize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degradation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evidence-</a:t>
            </a:r>
            <a:r>
              <a:rPr sz="1100" spc="-40" dirty="0">
                <a:latin typeface="Tahoma"/>
                <a:cs typeface="Tahoma"/>
              </a:rPr>
              <a:t>grounded </a:t>
            </a:r>
            <a:r>
              <a:rPr sz="1100" spc="-10" dirty="0">
                <a:latin typeface="Tahoma"/>
                <a:cs typeface="Tahoma"/>
              </a:rPr>
              <a:t>clinical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30" dirty="0">
                <a:latin typeface="Tahoma"/>
                <a:cs typeface="Tahoma"/>
              </a:rPr>
              <a:t> as</a:t>
            </a:r>
            <a:r>
              <a:rPr sz="1100" spc="-35" dirty="0">
                <a:latin typeface="Tahoma"/>
                <a:cs typeface="Tahoma"/>
              </a:rPr>
              <a:t> physiological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information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decreases.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100">
              <a:latin typeface="Tahoma"/>
              <a:cs typeface="Tahoma"/>
            </a:endParaRPr>
          </a:p>
          <a:p>
            <a:pPr marL="276860" indent="-177165">
              <a:lnSpc>
                <a:spcPct val="100000"/>
              </a:lnSpc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dirty="0">
                <a:latin typeface="Tahoma"/>
                <a:cs typeface="Tahoma"/>
              </a:rPr>
              <a:t>Clinical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evaluated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across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progressive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levels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information.</a:t>
            </a:r>
            <a:endParaRPr sz="1100">
              <a:latin typeface="Tahoma"/>
              <a:cs typeface="Tahoma"/>
            </a:endParaRPr>
          </a:p>
          <a:p>
            <a:pPr marL="276860" indent="-177165">
              <a:lnSpc>
                <a:spcPct val="100000"/>
              </a:lnSpc>
              <a:spcBef>
                <a:spcPts val="335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25" dirty="0">
                <a:latin typeface="Tahoma"/>
                <a:cs typeface="Tahoma"/>
              </a:rPr>
              <a:t>Lead</a:t>
            </a:r>
            <a:r>
              <a:rPr sz="1100" spc="-40" dirty="0">
                <a:latin typeface="Tahoma"/>
                <a:cs typeface="Tahoma"/>
              </a:rPr>
              <a:t> loss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removes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physiological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needed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support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reasoning.</a:t>
            </a:r>
            <a:endParaRPr sz="1100">
              <a:latin typeface="Tahoma"/>
              <a:cs typeface="Tahoma"/>
            </a:endParaRPr>
          </a:p>
          <a:p>
            <a:pPr marL="276860" marR="93345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50" dirty="0">
                <a:latin typeface="Tahoma"/>
                <a:cs typeface="Tahoma"/>
              </a:rPr>
              <a:t>Accuracy-</a:t>
            </a:r>
            <a:r>
              <a:rPr sz="1100" spc="-45" dirty="0">
                <a:latin typeface="Tahoma"/>
                <a:cs typeface="Tahoma"/>
              </a:rPr>
              <a:t>based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partial-</a:t>
            </a:r>
            <a:r>
              <a:rPr sz="1100" spc="-20" dirty="0">
                <a:latin typeface="Tahoma"/>
                <a:cs typeface="Tahoma"/>
              </a:rPr>
              <a:t>lead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evaluations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measure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whether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remains </a:t>
            </a:r>
            <a:r>
              <a:rPr sz="1100" spc="-35" dirty="0">
                <a:latin typeface="Tahoma"/>
                <a:cs typeface="Tahoma"/>
              </a:rPr>
              <a:t>correct,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whether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remains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grounded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still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available.</a:t>
            </a:r>
            <a:endParaRPr sz="1100">
              <a:latin typeface="Tahoma"/>
              <a:cs typeface="Tahoma"/>
            </a:endParaRPr>
          </a:p>
          <a:p>
            <a:pPr marL="276860" marR="26416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evaluation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preserve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controlled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loss,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prevent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reconstruction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40" dirty="0">
                <a:latin typeface="Tahoma"/>
                <a:cs typeface="Tahoma"/>
              </a:rPr>
              <a:t>missing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evidence,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distinguish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clinically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supported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unsupported inference.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1" name="object 11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4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Project</a:t>
            </a:r>
            <a:r>
              <a:rPr spc="-65" dirty="0"/>
              <a:t> </a:t>
            </a:r>
            <a:r>
              <a:rPr spc="-35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34" y="778062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379" y="76512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134" y="1160167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5379" y="114723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134" y="1542272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65379" y="152933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1134" y="1924376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5379" y="191144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134" y="2306481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65379" y="229356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394" y="723936"/>
            <a:ext cx="5002530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733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establish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controlled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framework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evaluating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under </a:t>
            </a:r>
            <a:r>
              <a:rPr sz="1100" spc="-55" dirty="0">
                <a:latin typeface="Tahoma"/>
                <a:cs typeface="Tahoma"/>
              </a:rPr>
              <a:t>progressive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physiological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10" dirty="0">
                <a:latin typeface="Tahoma"/>
                <a:cs typeface="Tahoma"/>
              </a:rPr>
              <a:t> loss.</a:t>
            </a:r>
            <a:endParaRPr sz="1100" dirty="0">
              <a:latin typeface="Tahoma"/>
              <a:cs typeface="Tahoma"/>
            </a:endParaRPr>
          </a:p>
          <a:p>
            <a:pPr marL="12700" marR="20955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compare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ECG-</a:t>
            </a:r>
            <a:r>
              <a:rPr sz="1100" dirty="0">
                <a:latin typeface="Tahoma"/>
                <a:cs typeface="Tahoma"/>
              </a:rPr>
              <a:t>only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Clinical Knowledge Prior (CKP)-assisted reasoning</a:t>
            </a:r>
            <a:r>
              <a:rPr sz="1100" spc="15" dirty="0">
                <a:latin typeface="Arial Black"/>
                <a:cs typeface="Arial Black"/>
              </a:rPr>
              <a:t> </a:t>
            </a:r>
            <a:r>
              <a:rPr sz="1100" spc="-55" dirty="0">
                <a:latin typeface="Tahoma"/>
                <a:cs typeface="Tahoma"/>
              </a:rPr>
              <a:t>under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identical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information-</a:t>
            </a:r>
            <a:r>
              <a:rPr sz="1100" spc="-20" dirty="0">
                <a:latin typeface="Tahoma"/>
                <a:cs typeface="Tahoma"/>
              </a:rPr>
              <a:t>loss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conditions.</a:t>
            </a:r>
            <a:endParaRPr sz="1100" dirty="0">
              <a:latin typeface="Tahoma"/>
              <a:cs typeface="Tahoma"/>
            </a:endParaRPr>
          </a:p>
          <a:p>
            <a:pPr marL="12700" marR="17145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evaluate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whether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grounded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physiological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evidence </a:t>
            </a:r>
            <a:r>
              <a:rPr sz="1100" spc="-35" dirty="0">
                <a:latin typeface="Tahoma"/>
                <a:cs typeface="Tahoma"/>
              </a:rPr>
              <a:t>available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level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loss.</a:t>
            </a:r>
            <a:endParaRPr sz="1100" dirty="0">
              <a:latin typeface="Tahoma"/>
              <a:cs typeface="Tahoma"/>
            </a:endParaRPr>
          </a:p>
          <a:p>
            <a:pPr marL="1270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characterize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Reasoning Degradation Curve (RDC)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measuring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grounding </a:t>
            </a:r>
            <a:r>
              <a:rPr sz="1100" spc="-20" dirty="0">
                <a:latin typeface="Tahoma"/>
                <a:cs typeface="Tahoma"/>
              </a:rPr>
              <a:t>quality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diagnostic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performance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under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progressive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lead</a:t>
            </a:r>
            <a:r>
              <a:rPr sz="1100" spc="-10" dirty="0">
                <a:latin typeface="Tahoma"/>
                <a:cs typeface="Tahoma"/>
              </a:rPr>
              <a:t> masking.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determine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Reasoning Failure Boundary (RFB)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assess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CKP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can </a:t>
            </a:r>
            <a:r>
              <a:rPr sz="1100" spc="-50" dirty="0">
                <a:latin typeface="Tahoma"/>
                <a:cs typeface="Tahoma"/>
              </a:rPr>
              <a:t>delay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boundary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without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increasing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unsupported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inference.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5" name="object 15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5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Scope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30" dirty="0"/>
              <a:t>Expected</a:t>
            </a:r>
            <a:r>
              <a:rPr spc="-60" dirty="0"/>
              <a:t> </a:t>
            </a:r>
            <a:r>
              <a:rPr spc="-30" dirty="0"/>
              <a:t>Outcomes</a:t>
            </a:r>
          </a:p>
        </p:txBody>
      </p:sp>
      <p:sp>
        <p:nvSpPr>
          <p:cNvPr id="3" name="object 3"/>
          <p:cNvSpPr/>
          <p:nvPr/>
        </p:nvSpPr>
        <p:spPr>
          <a:xfrm>
            <a:off x="201192" y="414298"/>
            <a:ext cx="2625090" cy="187960"/>
          </a:xfrm>
          <a:custGeom>
            <a:avLst/>
            <a:gdLst/>
            <a:ahLst/>
            <a:cxnLst/>
            <a:rect l="l" t="t" r="r" b="b"/>
            <a:pathLst>
              <a:path w="2625090" h="187959">
                <a:moveTo>
                  <a:pt x="257369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2624493" y="187819"/>
                </a:lnTo>
                <a:lnTo>
                  <a:pt x="2624493" y="50800"/>
                </a:lnTo>
                <a:lnTo>
                  <a:pt x="2620485" y="31075"/>
                </a:lnTo>
                <a:lnTo>
                  <a:pt x="2609571" y="14922"/>
                </a:lnTo>
                <a:lnTo>
                  <a:pt x="2593418" y="4008"/>
                </a:lnTo>
                <a:lnTo>
                  <a:pt x="257369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993" y="382621"/>
            <a:ext cx="51308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Included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192" y="589470"/>
            <a:ext cx="2625090" cy="2406459"/>
            <a:chOff x="201192" y="589470"/>
            <a:chExt cx="2625090" cy="240645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92" y="589470"/>
              <a:ext cx="2624493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1192" y="633729"/>
              <a:ext cx="2625090" cy="2362200"/>
            </a:xfrm>
            <a:custGeom>
              <a:avLst/>
              <a:gdLst/>
              <a:ahLst/>
              <a:cxnLst/>
              <a:rect l="l" t="t" r="r" b="b"/>
              <a:pathLst>
                <a:path w="2625090" h="2362200">
                  <a:moveTo>
                    <a:pt x="2624493" y="0"/>
                  </a:moveTo>
                  <a:lnTo>
                    <a:pt x="0" y="0"/>
                  </a:lnTo>
                  <a:lnTo>
                    <a:pt x="0" y="2311260"/>
                  </a:lnTo>
                  <a:lnTo>
                    <a:pt x="4008" y="2330985"/>
                  </a:lnTo>
                  <a:lnTo>
                    <a:pt x="14922" y="2347137"/>
                  </a:lnTo>
                  <a:lnTo>
                    <a:pt x="31075" y="2358052"/>
                  </a:lnTo>
                  <a:lnTo>
                    <a:pt x="50800" y="2362060"/>
                  </a:lnTo>
                  <a:lnTo>
                    <a:pt x="2573693" y="2362060"/>
                  </a:lnTo>
                  <a:lnTo>
                    <a:pt x="2593418" y="2358052"/>
                  </a:lnTo>
                  <a:lnTo>
                    <a:pt x="2609571" y="2347137"/>
                  </a:lnTo>
                  <a:lnTo>
                    <a:pt x="2620485" y="2330985"/>
                  </a:lnTo>
                  <a:lnTo>
                    <a:pt x="2624493" y="2311260"/>
                  </a:lnTo>
                  <a:lnTo>
                    <a:pt x="2624493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934347" y="414298"/>
            <a:ext cx="2625090" cy="215265"/>
          </a:xfrm>
          <a:custGeom>
            <a:avLst/>
            <a:gdLst/>
            <a:ahLst/>
            <a:cxnLst/>
            <a:rect l="l" t="t" r="r" b="b"/>
            <a:pathLst>
              <a:path w="2625090" h="215265">
                <a:moveTo>
                  <a:pt x="257369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2624493" y="215238"/>
                </a:lnTo>
                <a:lnTo>
                  <a:pt x="2624493" y="50800"/>
                </a:lnTo>
                <a:lnTo>
                  <a:pt x="2620485" y="31075"/>
                </a:lnTo>
                <a:lnTo>
                  <a:pt x="2609571" y="14922"/>
                </a:lnTo>
                <a:lnTo>
                  <a:pt x="2593418" y="4008"/>
                </a:lnTo>
                <a:lnTo>
                  <a:pt x="257369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85147" y="391067"/>
            <a:ext cx="142684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Excluded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Constraints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356" y="604023"/>
            <a:ext cx="2442210" cy="226914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5080" indent="-177165">
              <a:lnSpc>
                <a:spcPct val="102600"/>
              </a:lnSpc>
              <a:spcBef>
                <a:spcPts val="55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users and use cases: </a:t>
            </a:r>
            <a:r>
              <a:rPr sz="1000" spc="-20" dirty="0">
                <a:latin typeface="Tahoma"/>
                <a:cs typeface="Tahoma"/>
              </a:rPr>
              <a:t>ECG-</a:t>
            </a:r>
            <a:r>
              <a:rPr sz="1000" spc="-25" dirty="0">
                <a:latin typeface="Tahoma"/>
                <a:cs typeface="Tahoma"/>
              </a:rPr>
              <a:t>AI </a:t>
            </a:r>
            <a:r>
              <a:rPr sz="1000" spc="-60" dirty="0">
                <a:latin typeface="Tahoma"/>
                <a:cs typeface="Tahoma"/>
              </a:rPr>
              <a:t>researchers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 </a:t>
            </a:r>
            <a:r>
              <a:rPr sz="1000" spc="-10" dirty="0">
                <a:latin typeface="Tahoma"/>
                <a:cs typeface="Tahoma"/>
              </a:rPr>
              <a:t>clinical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AI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system </a:t>
            </a:r>
            <a:r>
              <a:rPr sz="1000" spc="-55" dirty="0">
                <a:latin typeface="Tahoma"/>
                <a:cs typeface="Tahoma"/>
              </a:rPr>
              <a:t>designers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evaluating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reasoning</a:t>
            </a:r>
            <a:r>
              <a:rPr sz="1000" spc="-10" dirty="0">
                <a:latin typeface="Tahoma"/>
                <a:cs typeface="Tahoma"/>
              </a:rPr>
              <a:t> under </a:t>
            </a:r>
            <a:r>
              <a:rPr sz="1000" spc="-35" dirty="0">
                <a:latin typeface="Tahoma"/>
                <a:cs typeface="Tahoma"/>
              </a:rPr>
              <a:t>incomplete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information.</a:t>
            </a:r>
            <a:endParaRPr sz="1000" dirty="0">
              <a:latin typeface="Tahoma"/>
              <a:cs typeface="Tahoma"/>
            </a:endParaRPr>
          </a:p>
          <a:p>
            <a:pPr marL="189230" marR="530225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 modules: </a:t>
            </a:r>
            <a:r>
              <a:rPr sz="1000" spc="-25" dirty="0">
                <a:latin typeface="Tahoma"/>
                <a:cs typeface="Tahoma"/>
              </a:rPr>
              <a:t>ECG </a:t>
            </a:r>
            <a:r>
              <a:rPr sz="1000" spc="-45" dirty="0">
                <a:latin typeface="Tahoma"/>
                <a:cs typeface="Tahoma"/>
              </a:rPr>
              <a:t>foundation-</a:t>
            </a:r>
            <a:r>
              <a:rPr sz="1000" spc="-30" dirty="0">
                <a:latin typeface="Tahoma"/>
                <a:cs typeface="Tahoma"/>
              </a:rPr>
              <a:t>model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adaptation,</a:t>
            </a:r>
            <a:endParaRPr sz="1000" dirty="0">
              <a:latin typeface="Tahoma"/>
              <a:cs typeface="Tahoma"/>
            </a:endParaRPr>
          </a:p>
          <a:p>
            <a:pPr marL="189230" marR="100965">
              <a:lnSpc>
                <a:spcPct val="102600"/>
              </a:lnSpc>
            </a:pPr>
            <a:r>
              <a:rPr sz="1000" spc="-40" dirty="0">
                <a:latin typeface="Tahoma"/>
                <a:cs typeface="Tahoma"/>
              </a:rPr>
              <a:t>hypothesis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preparation,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CKP-</a:t>
            </a:r>
            <a:r>
              <a:rPr sz="1000" spc="-10" dirty="0">
                <a:latin typeface="Tahoma"/>
                <a:cs typeface="Tahoma"/>
              </a:rPr>
              <a:t>assisted </a:t>
            </a:r>
            <a:r>
              <a:rPr sz="1000" spc="-50" dirty="0">
                <a:latin typeface="Tahoma"/>
                <a:cs typeface="Tahoma"/>
              </a:rPr>
              <a:t>reasoning,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evidence</a:t>
            </a:r>
            <a:r>
              <a:rPr sz="1000" spc="-10" dirty="0">
                <a:latin typeface="Tahoma"/>
                <a:cs typeface="Tahoma"/>
              </a:rPr>
              <a:t> grounding.</a:t>
            </a:r>
            <a:endParaRPr sz="1000" dirty="0">
              <a:latin typeface="Tahoma"/>
              <a:cs typeface="Tahoma"/>
            </a:endParaRPr>
          </a:p>
          <a:p>
            <a:pPr marL="189865" indent="-177165">
              <a:lnSpc>
                <a:spcPct val="100000"/>
              </a:lnSpc>
              <a:spcBef>
                <a:spcPts val="335"/>
              </a:spcBef>
              <a:buClr>
                <a:srgbClr val="1E87E5"/>
              </a:buClr>
              <a:buFont typeface="Lucida Sans Unicode"/>
              <a:buChar char="►"/>
              <a:tabLst>
                <a:tab pos="189865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Datasets: </a:t>
            </a:r>
            <a:r>
              <a:rPr sz="1000" dirty="0">
                <a:latin typeface="Tahoma"/>
                <a:cs typeface="Tahoma"/>
              </a:rPr>
              <a:t>PTB-XL,</a:t>
            </a:r>
            <a:r>
              <a:rPr sz="1000" spc="16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MIMIC-</a:t>
            </a:r>
            <a:r>
              <a:rPr sz="1000" spc="-10" dirty="0">
                <a:latin typeface="Tahoma"/>
                <a:cs typeface="Tahoma"/>
              </a:rPr>
              <a:t>IV-</a:t>
            </a:r>
            <a:r>
              <a:rPr sz="1000" spc="-25" dirty="0">
                <a:latin typeface="Tahoma"/>
                <a:cs typeface="Tahoma"/>
              </a:rPr>
              <a:t>ECG</a:t>
            </a:r>
            <a:endParaRPr sz="1000" dirty="0">
              <a:latin typeface="Tahoma"/>
              <a:cs typeface="Tahoma"/>
            </a:endParaRPr>
          </a:p>
          <a:p>
            <a:pPr marL="189230">
              <a:lnSpc>
                <a:spcPct val="100000"/>
              </a:lnSpc>
              <a:spcBef>
                <a:spcPts val="35"/>
              </a:spcBef>
            </a:pP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Chapman </a:t>
            </a:r>
            <a:r>
              <a:rPr sz="1000" spc="-10" dirty="0">
                <a:latin typeface="Tahoma"/>
                <a:cs typeface="Tahoma"/>
              </a:rPr>
              <a:t>Shaoxing</a:t>
            </a:r>
            <a:endParaRPr sz="1000" dirty="0">
              <a:latin typeface="Tahoma"/>
              <a:cs typeface="Tahoma"/>
            </a:endParaRPr>
          </a:p>
          <a:p>
            <a:pPr marL="189230" marR="39116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Evaluation: </a:t>
            </a:r>
            <a:r>
              <a:rPr sz="1000" spc="-45" dirty="0">
                <a:latin typeface="Tahoma"/>
                <a:cs typeface="Tahoma"/>
              </a:rPr>
              <a:t>Reasoning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Degradation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Curve, </a:t>
            </a:r>
            <a:r>
              <a:rPr sz="1000" dirty="0">
                <a:latin typeface="Tahoma"/>
                <a:cs typeface="Tahoma"/>
              </a:rPr>
              <a:t>AURDC,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and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RFB.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4347" y="616889"/>
            <a:ext cx="2625090" cy="2415972"/>
            <a:chOff x="2934347" y="616889"/>
            <a:chExt cx="2625090" cy="2415972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4347" y="616889"/>
              <a:ext cx="2624493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4347" y="661136"/>
              <a:ext cx="2625090" cy="2371725"/>
            </a:xfrm>
            <a:custGeom>
              <a:avLst/>
              <a:gdLst/>
              <a:ahLst/>
              <a:cxnLst/>
              <a:rect l="l" t="t" r="r" b="b"/>
              <a:pathLst>
                <a:path w="2625090" h="2371725">
                  <a:moveTo>
                    <a:pt x="2624493" y="0"/>
                  </a:moveTo>
                  <a:lnTo>
                    <a:pt x="0" y="0"/>
                  </a:lnTo>
                  <a:lnTo>
                    <a:pt x="0" y="2320886"/>
                  </a:lnTo>
                  <a:lnTo>
                    <a:pt x="4008" y="2340611"/>
                  </a:lnTo>
                  <a:lnTo>
                    <a:pt x="14922" y="2356764"/>
                  </a:lnTo>
                  <a:lnTo>
                    <a:pt x="31075" y="2367678"/>
                  </a:lnTo>
                  <a:lnTo>
                    <a:pt x="50800" y="2371687"/>
                  </a:lnTo>
                  <a:lnTo>
                    <a:pt x="2573693" y="2371687"/>
                  </a:lnTo>
                  <a:lnTo>
                    <a:pt x="2593418" y="2367678"/>
                  </a:lnTo>
                  <a:lnTo>
                    <a:pt x="2609571" y="2356764"/>
                  </a:lnTo>
                  <a:lnTo>
                    <a:pt x="2620485" y="2340611"/>
                  </a:lnTo>
                  <a:lnTo>
                    <a:pt x="2624493" y="2320886"/>
                  </a:lnTo>
                  <a:lnTo>
                    <a:pt x="2624493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72498" y="631442"/>
            <a:ext cx="2392680" cy="234262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116205" indent="-177165">
              <a:lnSpc>
                <a:spcPct val="102600"/>
              </a:lnSpc>
              <a:spcBef>
                <a:spcPts val="55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outside current phase: </a:t>
            </a:r>
            <a:r>
              <a:rPr sz="1000" spc="-25" dirty="0">
                <a:latin typeface="Tahoma"/>
                <a:cs typeface="Tahoma"/>
              </a:rPr>
              <a:t>Lead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reconstruction,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new </a:t>
            </a:r>
            <a:r>
              <a:rPr sz="1000" spc="-45" dirty="0">
                <a:latin typeface="Tahoma"/>
                <a:cs typeface="Tahoma"/>
              </a:rPr>
              <a:t>foundation-</a:t>
            </a:r>
            <a:r>
              <a:rPr sz="1000" spc="-30" dirty="0">
                <a:latin typeface="Tahoma"/>
                <a:cs typeface="Tahoma"/>
              </a:rPr>
              <a:t>model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development,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and </a:t>
            </a:r>
            <a:r>
              <a:rPr sz="1000" spc="-30" dirty="0">
                <a:latin typeface="Tahoma"/>
                <a:cs typeface="Tahoma"/>
              </a:rPr>
              <a:t>non-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reasoning</a:t>
            </a:r>
            <a:r>
              <a:rPr sz="1000" spc="-10" dirty="0">
                <a:latin typeface="Tahoma"/>
                <a:cs typeface="Tahoma"/>
              </a:rPr>
              <a:t> tasks.</a:t>
            </a:r>
            <a:endParaRPr sz="1000" dirty="0">
              <a:latin typeface="Tahoma"/>
              <a:cs typeface="Tahoma"/>
            </a:endParaRPr>
          </a:p>
          <a:p>
            <a:pPr marL="189230" marR="2286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 and hardware constraints:</a:t>
            </a: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spc="-40" dirty="0">
                <a:latin typeface="Tahoma"/>
                <a:cs typeface="Tahoma"/>
              </a:rPr>
              <a:t>Disease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selection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depends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dataset </a:t>
            </a:r>
            <a:r>
              <a:rPr sz="1000" spc="-55" dirty="0">
                <a:latin typeface="Tahoma"/>
                <a:cs typeface="Tahoma"/>
              </a:rPr>
              <a:t>coverage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training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available </a:t>
            </a:r>
            <a:r>
              <a:rPr sz="1000" spc="-40" dirty="0">
                <a:latin typeface="Tahoma"/>
                <a:cs typeface="Tahoma"/>
              </a:rPr>
              <a:t>compute </a:t>
            </a:r>
            <a:r>
              <a:rPr sz="1000" spc="-10" dirty="0">
                <a:latin typeface="Tahoma"/>
                <a:cs typeface="Tahoma"/>
              </a:rPr>
              <a:t>resources.</a:t>
            </a:r>
            <a:endParaRPr sz="1000" dirty="0">
              <a:latin typeface="Tahoma"/>
              <a:cs typeface="Tahoma"/>
            </a:endParaRPr>
          </a:p>
          <a:p>
            <a:pPr marL="189230" marR="10795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Dependencies: </a:t>
            </a:r>
            <a:r>
              <a:rPr sz="1000" spc="-40" dirty="0">
                <a:latin typeface="Tahoma"/>
                <a:cs typeface="Tahoma"/>
              </a:rPr>
              <a:t>Requires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pretrained </a:t>
            </a:r>
            <a:r>
              <a:rPr sz="1000" spc="-45" dirty="0">
                <a:latin typeface="Tahoma"/>
                <a:cs typeface="Tahoma"/>
              </a:rPr>
              <a:t>models,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clinical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evidence,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CKP </a:t>
            </a:r>
            <a:r>
              <a:rPr sz="1000" spc="-10" dirty="0">
                <a:latin typeface="Tahoma"/>
                <a:cs typeface="Tahoma"/>
              </a:rPr>
              <a:t>construction.</a:t>
            </a:r>
            <a:endParaRPr sz="1000" dirty="0">
              <a:latin typeface="Tahoma"/>
              <a:cs typeface="Tahoma"/>
            </a:endParaRPr>
          </a:p>
          <a:p>
            <a:pPr marL="189230" marR="508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 boundaries: </a:t>
            </a:r>
            <a:r>
              <a:rPr sz="1000" spc="-10" dirty="0">
                <a:latin typeface="Tahoma"/>
                <a:cs typeface="Tahoma"/>
              </a:rPr>
              <a:t>Limited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to </a:t>
            </a:r>
            <a:r>
              <a:rPr sz="1000" spc="-60" dirty="0">
                <a:latin typeface="Tahoma"/>
                <a:cs typeface="Tahoma"/>
              </a:rPr>
              <a:t>research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benchmarking.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8" name="object 18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6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Literature</a:t>
            </a:r>
            <a:r>
              <a:rPr spc="-10" dirty="0"/>
              <a:t> </a:t>
            </a:r>
            <a:r>
              <a:rPr spc="-55" dirty="0"/>
              <a:t>Review</a:t>
            </a:r>
          </a:p>
        </p:txBody>
      </p:sp>
      <p:sp>
        <p:nvSpPr>
          <p:cNvPr id="3" name="object 3"/>
          <p:cNvSpPr/>
          <p:nvPr/>
        </p:nvSpPr>
        <p:spPr>
          <a:xfrm>
            <a:off x="251993" y="587781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5213" y="603527"/>
            <a:ext cx="21336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</a:t>
            </a:r>
            <a:r>
              <a:rPr sz="800" spc="-60" dirty="0">
                <a:latin typeface="Arial Black"/>
                <a:cs typeface="Arial Black"/>
              </a:rPr>
              <a:t>.</a:t>
            </a:r>
            <a:endParaRPr sz="8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914" y="603527"/>
            <a:ext cx="680186" cy="2627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/ Technology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42884" y="603527"/>
            <a:ext cx="82359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Contribution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94886" y="603527"/>
            <a:ext cx="1359614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 / Research Gap</a:t>
            </a:r>
          </a:p>
        </p:txBody>
      </p:sp>
      <p:sp>
        <p:nvSpPr>
          <p:cNvPr id="8" name="object 8"/>
          <p:cNvSpPr/>
          <p:nvPr/>
        </p:nvSpPr>
        <p:spPr>
          <a:xfrm>
            <a:off x="251993" y="901776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5213" y="915465"/>
            <a:ext cx="142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[1]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016" y="915465"/>
            <a:ext cx="923925" cy="628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34290" indent="-635">
              <a:lnSpc>
                <a:spcPts val="950"/>
              </a:lnSpc>
              <a:spcBef>
                <a:spcPts val="135"/>
              </a:spcBef>
            </a:pPr>
            <a:r>
              <a:rPr sz="800" spc="-80" dirty="0">
                <a:latin typeface="Arial Black"/>
                <a:cs typeface="Arial Black"/>
              </a:rPr>
              <a:t>Strodthoff</a:t>
            </a:r>
            <a:r>
              <a:rPr sz="800" spc="55" dirty="0">
                <a:latin typeface="Arial Black"/>
                <a:cs typeface="Arial Black"/>
              </a:rPr>
              <a:t> </a:t>
            </a:r>
            <a:r>
              <a:rPr sz="800" spc="-75" dirty="0">
                <a:latin typeface="Arial Black"/>
                <a:cs typeface="Arial Black"/>
              </a:rPr>
              <a:t>et</a:t>
            </a:r>
            <a:r>
              <a:rPr sz="800" spc="60" dirty="0">
                <a:latin typeface="Arial Black"/>
                <a:cs typeface="Arial Black"/>
              </a:rPr>
              <a:t> </a:t>
            </a:r>
            <a:r>
              <a:rPr sz="800" spc="-25" dirty="0">
                <a:latin typeface="Arial Black"/>
                <a:cs typeface="Arial Black"/>
              </a:rPr>
              <a:t>al. </a:t>
            </a:r>
            <a:r>
              <a:rPr sz="800" spc="-70" dirty="0">
                <a:latin typeface="Arial Black"/>
                <a:cs typeface="Arial Black"/>
              </a:rPr>
              <a:t>(2021)</a:t>
            </a:r>
            <a:r>
              <a:rPr sz="800" spc="105" dirty="0">
                <a:latin typeface="Arial Black"/>
                <a:cs typeface="Arial Black"/>
              </a:rPr>
              <a:t> </a:t>
            </a:r>
            <a:r>
              <a:rPr sz="800" dirty="0">
                <a:latin typeface="Arial"/>
                <a:cs typeface="Arial"/>
              </a:rPr>
              <a:t>—</a:t>
            </a:r>
            <a:r>
              <a:rPr sz="800" spc="1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PTB-</a:t>
            </a:r>
            <a:r>
              <a:rPr sz="800" spc="-25" dirty="0">
                <a:latin typeface="Arial"/>
                <a:cs typeface="Arial"/>
              </a:rPr>
              <a:t>XL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5"/>
              </a:lnSpc>
            </a:pPr>
            <a:r>
              <a:rPr sz="800" spc="-10" dirty="0">
                <a:latin typeface="Arial"/>
                <a:cs typeface="Arial"/>
              </a:rPr>
              <a:t>Benchmark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sz="800" spc="-10" dirty="0">
                <a:latin typeface="Arial Black"/>
                <a:cs typeface="Arial Black"/>
              </a:rPr>
              <a:t>K-</a:t>
            </a:r>
            <a:r>
              <a:rPr sz="800" spc="-50" dirty="0">
                <a:latin typeface="Arial Black"/>
                <a:cs typeface="Arial Black"/>
              </a:rPr>
              <a:t>MERL</a:t>
            </a:r>
            <a:r>
              <a:rPr sz="800" spc="35" dirty="0">
                <a:latin typeface="Arial Black"/>
                <a:cs typeface="Arial Black"/>
              </a:rPr>
              <a:t> </a:t>
            </a:r>
            <a:r>
              <a:rPr sz="800" spc="-70" dirty="0">
                <a:latin typeface="Arial Black"/>
                <a:cs typeface="Arial Black"/>
              </a:rPr>
              <a:t>(2025)</a:t>
            </a:r>
            <a:r>
              <a:rPr sz="800" spc="25" dirty="0">
                <a:latin typeface="Arial Black"/>
                <a:cs typeface="Arial Black"/>
              </a:rPr>
              <a:t> </a:t>
            </a:r>
            <a:r>
              <a:rPr sz="800" spc="-50" dirty="0">
                <a:latin typeface="Arial"/>
                <a:cs typeface="Arial"/>
              </a:rPr>
              <a:t>—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latin typeface="Arial"/>
                <a:cs typeface="Arial"/>
              </a:rPr>
              <a:t>Arbitrary-Lead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ECG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2884" y="915465"/>
            <a:ext cx="925194" cy="1830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99695">
              <a:lnSpc>
                <a:spcPts val="950"/>
              </a:lnSpc>
              <a:spcBef>
                <a:spcPts val="135"/>
              </a:spcBef>
            </a:pPr>
            <a:r>
              <a:rPr sz="800" spc="-20" dirty="0">
                <a:latin typeface="Arial"/>
                <a:cs typeface="Arial"/>
              </a:rPr>
              <a:t>Standardizes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55" dirty="0">
                <a:latin typeface="Arial"/>
                <a:cs typeface="Arial"/>
              </a:rPr>
              <a:t>ECG</a:t>
            </a:r>
            <a:r>
              <a:rPr sz="800" dirty="0">
                <a:latin typeface="Arial"/>
                <a:cs typeface="Arial"/>
              </a:rPr>
              <a:t> model</a:t>
            </a:r>
            <a:r>
              <a:rPr sz="800" spc="-10" dirty="0">
                <a:latin typeface="Arial"/>
                <a:cs typeface="Arial"/>
              </a:rPr>
              <a:t> evaluation.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"/>
              <a:cs typeface="Arial"/>
            </a:endParaRPr>
          </a:p>
          <a:p>
            <a:pPr marL="12700" marR="34290">
              <a:lnSpc>
                <a:spcPts val="950"/>
              </a:lnSpc>
            </a:pPr>
            <a:r>
              <a:rPr sz="800" spc="-25" dirty="0">
                <a:latin typeface="Arial"/>
                <a:cs typeface="Arial"/>
              </a:rPr>
              <a:t>Enables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ECG</a:t>
            </a:r>
            <a:r>
              <a:rPr sz="800" spc="-10" dirty="0">
                <a:latin typeface="Arial"/>
                <a:cs typeface="Arial"/>
              </a:rPr>
              <a:t> representation learning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with </a:t>
            </a:r>
            <a:r>
              <a:rPr sz="800" dirty="0">
                <a:latin typeface="Arial"/>
                <a:cs typeface="Arial"/>
              </a:rPr>
              <a:t>arbitrary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leads. Provides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strong pretrained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ECG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representations</a:t>
            </a:r>
            <a:r>
              <a:rPr sz="800" spc="10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and</a:t>
            </a:r>
            <a:r>
              <a:rPr sz="800" spc="-10" dirty="0">
                <a:latin typeface="Arial"/>
                <a:cs typeface="Arial"/>
              </a:rPr>
              <a:t> benchmarking.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85"/>
              </a:lnSpc>
            </a:pPr>
            <a:r>
              <a:rPr sz="800" dirty="0">
                <a:latin typeface="Arial"/>
                <a:cs typeface="Arial"/>
              </a:rPr>
              <a:t>Links </a:t>
            </a:r>
            <a:r>
              <a:rPr sz="800" spc="-20" dirty="0">
                <a:latin typeface="Arial"/>
                <a:cs typeface="Arial"/>
              </a:rPr>
              <a:t>ECG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findings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Arial"/>
                <a:cs typeface="Arial"/>
              </a:rPr>
              <a:t>to</a:t>
            </a:r>
            <a:r>
              <a:rPr sz="800" spc="1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measurable </a:t>
            </a:r>
            <a:r>
              <a:rPr sz="800" spc="-25" dirty="0">
                <a:latin typeface="Arial"/>
                <a:cs typeface="Arial"/>
              </a:rPr>
              <a:t>evidence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for</a:t>
            </a:r>
            <a:r>
              <a:rPr sz="800" spc="-20" dirty="0">
                <a:latin typeface="Arial"/>
                <a:cs typeface="Arial"/>
              </a:rPr>
              <a:t> grounded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reasoning.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4710" y="915465"/>
            <a:ext cx="25488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Does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evaluate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reasoning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under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progressive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lead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loss.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5213" y="1276069"/>
            <a:ext cx="142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[2]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4710" y="1276069"/>
            <a:ext cx="237744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Does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evaluate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grounding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during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progressive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lead </a:t>
            </a:r>
            <a:r>
              <a:rPr sz="800" spc="-10" dirty="0">
                <a:latin typeface="Arial"/>
                <a:cs typeface="Arial"/>
              </a:rPr>
              <a:t>loss.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5213" y="1756866"/>
            <a:ext cx="142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[3]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5016" y="1756866"/>
            <a:ext cx="923925" cy="868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spc="-45" dirty="0">
                <a:latin typeface="Arial Black"/>
                <a:cs typeface="Arial Black"/>
              </a:rPr>
              <a:t>ECG-</a:t>
            </a:r>
            <a:r>
              <a:rPr sz="800" dirty="0">
                <a:latin typeface="Arial Black"/>
                <a:cs typeface="Arial Black"/>
              </a:rPr>
              <a:t>FM</a:t>
            </a:r>
            <a:r>
              <a:rPr sz="800" spc="15" dirty="0">
                <a:latin typeface="Arial Black"/>
                <a:cs typeface="Arial Black"/>
              </a:rPr>
              <a:t> </a:t>
            </a:r>
            <a:r>
              <a:rPr sz="800" spc="-70" dirty="0">
                <a:latin typeface="Arial Black"/>
                <a:cs typeface="Arial Black"/>
              </a:rPr>
              <a:t>(2025)</a:t>
            </a:r>
            <a:r>
              <a:rPr sz="800" spc="5" dirty="0">
                <a:latin typeface="Arial Black"/>
                <a:cs typeface="Arial Black"/>
              </a:rPr>
              <a:t> </a:t>
            </a:r>
            <a:r>
              <a:rPr sz="800" spc="-50" dirty="0">
                <a:latin typeface="Arial"/>
                <a:cs typeface="Arial"/>
              </a:rPr>
              <a:t>—</a:t>
            </a:r>
            <a:endParaRPr sz="800">
              <a:latin typeface="Arial"/>
              <a:cs typeface="Arial"/>
            </a:endParaRPr>
          </a:p>
          <a:p>
            <a:pPr marL="12700" marR="158115">
              <a:lnSpc>
                <a:spcPts val="950"/>
              </a:lnSpc>
              <a:spcBef>
                <a:spcPts val="35"/>
              </a:spcBef>
            </a:pPr>
            <a:r>
              <a:rPr sz="800" spc="-20" dirty="0">
                <a:latin typeface="Arial"/>
                <a:cs typeface="Arial"/>
              </a:rPr>
              <a:t>ECG </a:t>
            </a:r>
            <a:r>
              <a:rPr sz="800" spc="-10" dirty="0">
                <a:latin typeface="Arial"/>
                <a:cs typeface="Arial"/>
              </a:rPr>
              <a:t>Foundation Model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  <a:spcBef>
                <a:spcPts val="900"/>
              </a:spcBef>
            </a:pPr>
            <a:r>
              <a:rPr sz="800" spc="-20" dirty="0">
                <a:latin typeface="Arial Black"/>
                <a:cs typeface="Arial Black"/>
              </a:rPr>
              <a:t>GEM</a:t>
            </a:r>
            <a:r>
              <a:rPr sz="800" spc="-10" dirty="0">
                <a:latin typeface="Arial Black"/>
                <a:cs typeface="Arial Black"/>
              </a:rPr>
              <a:t> </a:t>
            </a:r>
            <a:r>
              <a:rPr sz="800" spc="-70" dirty="0">
                <a:latin typeface="Arial Black"/>
                <a:cs typeface="Arial Black"/>
              </a:rPr>
              <a:t>(2025)</a:t>
            </a:r>
            <a:r>
              <a:rPr sz="800" spc="5" dirty="0">
                <a:latin typeface="Arial Black"/>
                <a:cs typeface="Arial Black"/>
              </a:rPr>
              <a:t> </a:t>
            </a:r>
            <a:r>
              <a:rPr sz="800" spc="-50" dirty="0">
                <a:latin typeface="Arial"/>
                <a:cs typeface="Arial"/>
              </a:rPr>
              <a:t>—</a:t>
            </a:r>
            <a:endParaRPr sz="800">
              <a:latin typeface="Arial"/>
              <a:cs typeface="Arial"/>
            </a:endParaRPr>
          </a:p>
          <a:p>
            <a:pPr marL="12700" marR="229870">
              <a:lnSpc>
                <a:spcPts val="950"/>
              </a:lnSpc>
              <a:spcBef>
                <a:spcPts val="30"/>
              </a:spcBef>
            </a:pPr>
            <a:r>
              <a:rPr sz="800" spc="-25" dirty="0">
                <a:latin typeface="Arial"/>
                <a:cs typeface="Arial"/>
              </a:rPr>
              <a:t>Grounded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ECG</a:t>
            </a:r>
            <a:r>
              <a:rPr sz="800" spc="-10" dirty="0">
                <a:latin typeface="Arial"/>
                <a:cs typeface="Arial"/>
              </a:rPr>
              <a:t> Understanding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4710" y="1756866"/>
            <a:ext cx="25507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Does</a:t>
            </a:r>
            <a:r>
              <a:rPr sz="800" dirty="0">
                <a:latin typeface="Arial"/>
                <a:cs typeface="Arial"/>
              </a:rPr>
              <a:t> not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evaluate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grounded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reasoning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under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progressive</a:t>
            </a:r>
            <a:r>
              <a:rPr sz="800" spc="-10" dirty="0">
                <a:latin typeface="Arial"/>
                <a:cs typeface="Arial"/>
              </a:rPr>
              <a:t> lead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loss.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213" y="2237662"/>
            <a:ext cx="142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[4]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94710" y="2237662"/>
            <a:ext cx="204025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Does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study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grounding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degradation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under </a:t>
            </a:r>
            <a:r>
              <a:rPr sz="800" spc="-30" dirty="0">
                <a:latin typeface="Arial"/>
                <a:cs typeface="Arial"/>
              </a:rPr>
              <a:t>progressive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lead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loss.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1993" y="2778366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22" name="object 22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7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Research</a:t>
            </a:r>
            <a:r>
              <a:rPr spc="-50" dirty="0"/>
              <a:t> </a:t>
            </a:r>
            <a:r>
              <a:rPr dirty="0"/>
              <a:t>Gap</a:t>
            </a:r>
            <a:r>
              <a:rPr spc="-8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30" dirty="0"/>
              <a:t>Proposed</a:t>
            </a:r>
            <a:r>
              <a:rPr spc="-65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201192" y="888389"/>
            <a:ext cx="2572385" cy="198755"/>
          </a:xfrm>
          <a:custGeom>
            <a:avLst/>
            <a:gdLst/>
            <a:ahLst/>
            <a:cxnLst/>
            <a:rect l="l" t="t" r="r" b="b"/>
            <a:pathLst>
              <a:path w="2572385" h="198755">
                <a:moveTo>
                  <a:pt x="252115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2"/>
                </a:lnTo>
                <a:lnTo>
                  <a:pt x="2571966" y="198362"/>
                </a:lnTo>
                <a:lnTo>
                  <a:pt x="2571966" y="50800"/>
                </a:lnTo>
                <a:lnTo>
                  <a:pt x="2567956" y="31075"/>
                </a:lnTo>
                <a:lnTo>
                  <a:pt x="2557037" y="14922"/>
                </a:lnTo>
                <a:lnTo>
                  <a:pt x="2540880" y="4008"/>
                </a:lnTo>
                <a:lnTo>
                  <a:pt x="252115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993" y="856712"/>
            <a:ext cx="86614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Identified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Gap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192" y="1074102"/>
            <a:ext cx="2572385" cy="1518094"/>
            <a:chOff x="201192" y="1074102"/>
            <a:chExt cx="2572385" cy="151809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92" y="1074102"/>
              <a:ext cx="25719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1192" y="1118361"/>
              <a:ext cx="2572385" cy="1473835"/>
            </a:xfrm>
            <a:custGeom>
              <a:avLst/>
              <a:gdLst/>
              <a:ahLst/>
              <a:cxnLst/>
              <a:rect l="l" t="t" r="r" b="b"/>
              <a:pathLst>
                <a:path w="2572385" h="1473835">
                  <a:moveTo>
                    <a:pt x="2571966" y="0"/>
                  </a:moveTo>
                  <a:lnTo>
                    <a:pt x="0" y="0"/>
                  </a:lnTo>
                  <a:lnTo>
                    <a:pt x="0" y="1422539"/>
                  </a:lnTo>
                  <a:lnTo>
                    <a:pt x="4008" y="1442264"/>
                  </a:lnTo>
                  <a:lnTo>
                    <a:pt x="14922" y="1458417"/>
                  </a:lnTo>
                  <a:lnTo>
                    <a:pt x="31075" y="1469331"/>
                  </a:lnTo>
                  <a:lnTo>
                    <a:pt x="50800" y="1473340"/>
                  </a:lnTo>
                  <a:lnTo>
                    <a:pt x="2521153" y="1473340"/>
                  </a:lnTo>
                  <a:lnTo>
                    <a:pt x="2540880" y="1469331"/>
                  </a:lnTo>
                  <a:lnTo>
                    <a:pt x="2557037" y="1458417"/>
                  </a:lnTo>
                  <a:lnTo>
                    <a:pt x="2567956" y="1442264"/>
                  </a:lnTo>
                  <a:lnTo>
                    <a:pt x="2571966" y="1422539"/>
                  </a:lnTo>
                  <a:lnTo>
                    <a:pt x="2571966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881730" y="888389"/>
            <a:ext cx="2677160" cy="198755"/>
          </a:xfrm>
          <a:custGeom>
            <a:avLst/>
            <a:gdLst/>
            <a:ahLst/>
            <a:cxnLst/>
            <a:rect l="l" t="t" r="r" b="b"/>
            <a:pathLst>
              <a:path w="2677160" h="198755">
                <a:moveTo>
                  <a:pt x="262629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2"/>
                </a:lnTo>
                <a:lnTo>
                  <a:pt x="2677109" y="198362"/>
                </a:lnTo>
                <a:lnTo>
                  <a:pt x="2677109" y="50800"/>
                </a:lnTo>
                <a:lnTo>
                  <a:pt x="2673101" y="31075"/>
                </a:lnTo>
                <a:lnTo>
                  <a:pt x="2662185" y="14922"/>
                </a:lnTo>
                <a:lnTo>
                  <a:pt x="2646029" y="4008"/>
                </a:lnTo>
                <a:lnTo>
                  <a:pt x="2626297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32531" y="856712"/>
            <a:ext cx="140081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Proposed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Contribution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993" y="1088655"/>
            <a:ext cx="257238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76860" marR="177800" indent="-177165">
              <a:lnSpc>
                <a:spcPct val="102600"/>
              </a:lnSpc>
              <a:spcBef>
                <a:spcPts val="55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45" dirty="0">
                <a:latin typeface="Tahoma"/>
                <a:cs typeface="Tahoma"/>
              </a:rPr>
              <a:t>Reasoning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rarely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evaluated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under </a:t>
            </a:r>
            <a:r>
              <a:rPr sz="1100" spc="-55" dirty="0">
                <a:latin typeface="Tahoma"/>
                <a:cs typeface="Tahoma"/>
              </a:rPr>
              <a:t>progressive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physiological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 </a:t>
            </a:r>
            <a:r>
              <a:rPr sz="1100" spc="-10" dirty="0">
                <a:latin typeface="Tahoma"/>
                <a:cs typeface="Tahoma"/>
              </a:rPr>
              <a:t>loss.</a:t>
            </a:r>
            <a:endParaRPr sz="1100">
              <a:latin typeface="Tahoma"/>
              <a:cs typeface="Tahoma"/>
            </a:endParaRPr>
          </a:p>
          <a:p>
            <a:pPr marL="276860" marR="11303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which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diagnosis </a:t>
            </a:r>
            <a:r>
              <a:rPr sz="1100" spc="-55" dirty="0">
                <a:latin typeface="Tahoma"/>
                <a:cs typeface="Tahoma"/>
              </a:rPr>
              <a:t>becomes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unreliable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insufficient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unclear.</a:t>
            </a:r>
            <a:endParaRPr sz="1100">
              <a:latin typeface="Tahoma"/>
              <a:cs typeface="Tahoma"/>
            </a:endParaRPr>
          </a:p>
          <a:p>
            <a:pPr marL="276860" marR="218440" indent="-177165">
              <a:lnSpc>
                <a:spcPct val="102699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structured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45" dirty="0">
                <a:latin typeface="Tahoma"/>
                <a:cs typeface="Tahoma"/>
              </a:rPr>
              <a:t>delaying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failure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unexplored.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81730" y="1074102"/>
            <a:ext cx="2677160" cy="1346013"/>
            <a:chOff x="2881730" y="1074102"/>
            <a:chExt cx="2677160" cy="1346013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1730" y="1074102"/>
              <a:ext cx="2677109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81730" y="1118365"/>
              <a:ext cx="2677160" cy="1301750"/>
            </a:xfrm>
            <a:custGeom>
              <a:avLst/>
              <a:gdLst/>
              <a:ahLst/>
              <a:cxnLst/>
              <a:rect l="l" t="t" r="r" b="b"/>
              <a:pathLst>
                <a:path w="2677160" h="1301750">
                  <a:moveTo>
                    <a:pt x="2677109" y="0"/>
                  </a:moveTo>
                  <a:lnTo>
                    <a:pt x="0" y="0"/>
                  </a:lnTo>
                  <a:lnTo>
                    <a:pt x="0" y="1250463"/>
                  </a:lnTo>
                  <a:lnTo>
                    <a:pt x="4008" y="1270188"/>
                  </a:lnTo>
                  <a:lnTo>
                    <a:pt x="14922" y="1286341"/>
                  </a:lnTo>
                  <a:lnTo>
                    <a:pt x="31075" y="1297255"/>
                  </a:lnTo>
                  <a:lnTo>
                    <a:pt x="50800" y="1301263"/>
                  </a:lnTo>
                  <a:lnTo>
                    <a:pt x="2626297" y="1301263"/>
                  </a:lnTo>
                  <a:lnTo>
                    <a:pt x="2646029" y="1297255"/>
                  </a:lnTo>
                  <a:lnTo>
                    <a:pt x="2662185" y="1286341"/>
                  </a:lnTo>
                  <a:lnTo>
                    <a:pt x="2673101" y="1270188"/>
                  </a:lnTo>
                  <a:lnTo>
                    <a:pt x="2677109" y="1250463"/>
                  </a:lnTo>
                  <a:lnTo>
                    <a:pt x="2677109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32531" y="1088655"/>
            <a:ext cx="2677160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76860" marR="164465" indent="-177165">
              <a:lnSpc>
                <a:spcPct val="102600"/>
              </a:lnSpc>
              <a:spcBef>
                <a:spcPts val="55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controlled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framework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progressive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loss.</a:t>
            </a:r>
            <a:endParaRPr sz="1100">
              <a:latin typeface="Tahoma"/>
              <a:cs typeface="Tahoma"/>
            </a:endParaRPr>
          </a:p>
          <a:p>
            <a:pPr marL="276860" marR="230504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25" dirty="0">
                <a:latin typeface="Tahoma"/>
                <a:cs typeface="Tahoma"/>
              </a:rPr>
              <a:t>ECG-</a:t>
            </a:r>
            <a:r>
              <a:rPr sz="1100" dirty="0">
                <a:latin typeface="Tahoma"/>
                <a:cs typeface="Tahoma"/>
              </a:rPr>
              <a:t>only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vs.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CKP-</a:t>
            </a:r>
            <a:r>
              <a:rPr sz="1100" spc="-10" dirty="0">
                <a:latin typeface="Tahoma"/>
                <a:cs typeface="Tahoma"/>
              </a:rPr>
              <a:t>assisted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reasoning </a:t>
            </a:r>
            <a:r>
              <a:rPr sz="1100" spc="-10" dirty="0">
                <a:latin typeface="Tahoma"/>
                <a:cs typeface="Tahoma"/>
              </a:rPr>
              <a:t>comparison.</a:t>
            </a:r>
            <a:endParaRPr sz="1100">
              <a:latin typeface="Tahoma"/>
              <a:cs typeface="Tahoma"/>
            </a:endParaRPr>
          </a:p>
          <a:p>
            <a:pPr marL="276860" marR="120014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10" dirty="0">
                <a:latin typeface="Tahoma"/>
                <a:cs typeface="Tahoma"/>
              </a:rPr>
              <a:t>Area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under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Reasoning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Degradation </a:t>
            </a:r>
            <a:r>
              <a:rPr sz="1100" spc="-25" dirty="0">
                <a:latin typeface="Tahoma"/>
                <a:cs typeface="Tahoma"/>
              </a:rPr>
              <a:t>Curve</a:t>
            </a:r>
            <a:r>
              <a:rPr sz="1100" dirty="0">
                <a:latin typeface="Tahoma"/>
                <a:cs typeface="Tahoma"/>
              </a:rPr>
              <a:t> (AURDC)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Reasoning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Failure </a:t>
            </a:r>
            <a:r>
              <a:rPr sz="1100" spc="-10" dirty="0">
                <a:latin typeface="Tahoma"/>
                <a:cs typeface="Tahoma"/>
              </a:rPr>
              <a:t>Boundary.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8" name="object 18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8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Existing</a:t>
            </a:r>
            <a:r>
              <a:rPr spc="-75" dirty="0"/>
              <a:t> </a:t>
            </a:r>
            <a:r>
              <a:rPr spc="-35" dirty="0"/>
              <a:t>System</a:t>
            </a:r>
            <a:r>
              <a:rPr spc="-70" dirty="0"/>
              <a:t> </a:t>
            </a:r>
            <a:r>
              <a:rPr dirty="0"/>
              <a:t>vs.</a:t>
            </a:r>
            <a:r>
              <a:rPr spc="55" dirty="0"/>
              <a:t> </a:t>
            </a:r>
            <a:r>
              <a:rPr spc="-30" dirty="0"/>
              <a:t>Proposed</a:t>
            </a:r>
            <a:r>
              <a:rPr spc="-70" dirty="0"/>
              <a:t> </a:t>
            </a:r>
            <a:r>
              <a:rPr spc="-2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251993" y="676351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5213" y="688929"/>
            <a:ext cx="66268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Criterion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47175" y="688929"/>
            <a:ext cx="8648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Existing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System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9480" y="688929"/>
            <a:ext cx="937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Proposed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System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993" y="901776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5213" y="967600"/>
            <a:ext cx="1231824" cy="10345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</a:t>
            </a:r>
          </a:p>
          <a:p>
            <a:pPr marL="12700" marR="5080">
              <a:lnSpc>
                <a:spcPct val="199300"/>
              </a:lnSpc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 / Quality Cost / Time Security / Privacy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47036" y="912296"/>
            <a:ext cx="1886585" cy="1696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Evaluates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models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under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fixed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predefined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input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conditions.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ts val="1200"/>
              </a:lnSpc>
              <a:spcBef>
                <a:spcPts val="30"/>
              </a:spcBef>
            </a:pPr>
            <a:r>
              <a:rPr sz="1000" spc="-45" dirty="0">
                <a:latin typeface="Tahoma"/>
                <a:cs typeface="Tahoma"/>
              </a:rPr>
              <a:t>Focuses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mainly</a:t>
            </a:r>
            <a:r>
              <a:rPr sz="1000" spc="-50" dirty="0">
                <a:latin typeface="Tahoma"/>
                <a:cs typeface="Tahoma"/>
              </a:rPr>
              <a:t> 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getting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diag-</a:t>
            </a:r>
            <a:r>
              <a:rPr sz="1000" spc="-35" dirty="0">
                <a:latin typeface="Tahoma"/>
                <a:cs typeface="Tahoma"/>
              </a:rPr>
              <a:t>nosis </a:t>
            </a:r>
            <a:r>
              <a:rPr sz="1000" spc="-10" dirty="0">
                <a:latin typeface="Tahoma"/>
                <a:cs typeface="Tahoma"/>
              </a:rPr>
              <a:t>correct.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50"/>
              </a:lnSpc>
            </a:pPr>
            <a:r>
              <a:rPr sz="1000" spc="-40" dirty="0">
                <a:latin typeface="Tahoma"/>
                <a:cs typeface="Tahoma"/>
              </a:rPr>
              <a:t>Requires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conventional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model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evalu-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sz="1000" spc="-10" dirty="0">
                <a:latin typeface="Tahoma"/>
                <a:cs typeface="Tahoma"/>
              </a:rPr>
              <a:t>ation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selected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input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conditions. Operates</a:t>
            </a:r>
            <a:r>
              <a:rPr sz="1000" spc="1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within</a:t>
            </a:r>
            <a:r>
              <a:rPr sz="1000" spc="1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existing</a:t>
            </a:r>
            <a:r>
              <a:rPr sz="1000" spc="1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clinical-</a:t>
            </a:r>
            <a:r>
              <a:rPr sz="1000" spc="-20" dirty="0">
                <a:latin typeface="Tahoma"/>
                <a:cs typeface="Tahoma"/>
              </a:rPr>
              <a:t>data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access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constraints.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140"/>
              </a:spcBef>
            </a:pPr>
            <a:r>
              <a:rPr sz="1000" spc="-25" dirty="0">
                <a:latin typeface="Tahoma"/>
                <a:cs typeface="Tahoma"/>
              </a:rPr>
              <a:t>Generally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evaluates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fixed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lead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con-</a:t>
            </a:r>
            <a:r>
              <a:rPr sz="1000" spc="-10" dirty="0">
                <a:latin typeface="Tahoma"/>
                <a:cs typeface="Tahoma"/>
              </a:rPr>
              <a:t>figurations.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9137" y="912296"/>
            <a:ext cx="1887220" cy="1391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Evaluates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reasoning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across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progres-</a:t>
            </a:r>
            <a:r>
              <a:rPr sz="1000" spc="-30" dirty="0">
                <a:latin typeface="Tahoma"/>
                <a:cs typeface="Tahoma"/>
              </a:rPr>
              <a:t>sively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reduced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information.</a:t>
            </a:r>
            <a:endParaRPr sz="1000">
              <a:latin typeface="Tahoma"/>
              <a:cs typeface="Tahoma"/>
            </a:endParaRPr>
          </a:p>
          <a:p>
            <a:pPr marL="12700" marR="5080" algn="just">
              <a:lnSpc>
                <a:spcPts val="1200"/>
              </a:lnSpc>
              <a:spcBef>
                <a:spcPts val="30"/>
              </a:spcBef>
            </a:pPr>
            <a:r>
              <a:rPr sz="1000" spc="-35" dirty="0">
                <a:latin typeface="Tahoma"/>
                <a:cs typeface="Tahoma"/>
              </a:rPr>
              <a:t>Evaluates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diagnosis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correctness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 </a:t>
            </a:r>
            <a:r>
              <a:rPr sz="1000" spc="-45" dirty="0">
                <a:latin typeface="Tahoma"/>
                <a:cs typeface="Tahoma"/>
              </a:rPr>
              <a:t>reasoning</a:t>
            </a:r>
            <a:r>
              <a:rPr sz="1000" spc="-10" dirty="0">
                <a:latin typeface="Tahoma"/>
                <a:cs typeface="Tahoma"/>
              </a:rPr>
              <a:t> grounding.</a:t>
            </a:r>
            <a:endParaRPr sz="1000">
              <a:latin typeface="Tahoma"/>
              <a:cs typeface="Tahoma"/>
            </a:endParaRPr>
          </a:p>
          <a:p>
            <a:pPr marL="12700" algn="just">
              <a:lnSpc>
                <a:spcPts val="1150"/>
              </a:lnSpc>
            </a:pPr>
            <a:r>
              <a:rPr sz="1000" spc="-45" dirty="0">
                <a:latin typeface="Tahoma"/>
                <a:cs typeface="Tahoma"/>
              </a:rPr>
              <a:t>Requires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repeated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evaluation</a:t>
            </a:r>
            <a:r>
              <a:rPr sz="1000" spc="-10" dirty="0">
                <a:latin typeface="Tahoma"/>
                <a:cs typeface="Tahoma"/>
              </a:rPr>
              <a:t> across</a:t>
            </a:r>
            <a:endParaRPr sz="1000">
              <a:latin typeface="Tahoma"/>
              <a:cs typeface="Tahoma"/>
            </a:endParaRPr>
          </a:p>
          <a:p>
            <a:pPr marL="12700" algn="just">
              <a:lnSpc>
                <a:spcPts val="1195"/>
              </a:lnSpc>
            </a:pPr>
            <a:r>
              <a:rPr sz="1000" spc="-40" dirty="0">
                <a:latin typeface="Tahoma"/>
                <a:cs typeface="Tahoma"/>
              </a:rPr>
              <a:t>information-</a:t>
            </a:r>
            <a:r>
              <a:rPr sz="1000" spc="-10" dirty="0">
                <a:latin typeface="Tahoma"/>
                <a:cs typeface="Tahoma"/>
              </a:rPr>
              <a:t>loss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levels.</a:t>
            </a:r>
            <a:endParaRPr sz="1000">
              <a:latin typeface="Tahoma"/>
              <a:cs typeface="Tahoma"/>
            </a:endParaRPr>
          </a:p>
          <a:p>
            <a:pPr marL="12700" marR="5080" algn="just">
              <a:lnSpc>
                <a:spcPts val="1200"/>
              </a:lnSpc>
              <a:spcBef>
                <a:spcPts val="40"/>
              </a:spcBef>
            </a:pPr>
            <a:r>
              <a:rPr sz="1000" dirty="0">
                <a:latin typeface="Tahoma"/>
                <a:cs typeface="Tahoma"/>
              </a:rPr>
              <a:t>Maintains</a:t>
            </a:r>
            <a:r>
              <a:rPr sz="1000" spc="3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same</a:t>
            </a:r>
            <a:r>
              <a:rPr sz="1000" spc="34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data-</a:t>
            </a:r>
            <a:r>
              <a:rPr sz="1000" spc="-45" dirty="0">
                <a:latin typeface="Tahoma"/>
                <a:cs typeface="Tahoma"/>
              </a:rPr>
              <a:t>access </a:t>
            </a:r>
            <a:r>
              <a:rPr sz="1000" spc="-40" dirty="0">
                <a:latin typeface="Tahoma"/>
                <a:cs typeface="Tahoma"/>
              </a:rPr>
              <a:t>boundaries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without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additional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 </a:t>
            </a:r>
            <a:r>
              <a:rPr sz="1000" spc="-10" dirty="0">
                <a:latin typeface="Tahoma"/>
                <a:cs typeface="Tahoma"/>
              </a:rPr>
              <a:t>collection.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213" y="2278778"/>
            <a:ext cx="73888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Scalability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59137" y="2278778"/>
            <a:ext cx="1885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2460" algn="l"/>
                <a:tab pos="1336675" algn="l"/>
              </a:tabLst>
            </a:pPr>
            <a:r>
              <a:rPr sz="1000" spc="-10" dirty="0">
                <a:latin typeface="Tahoma"/>
                <a:cs typeface="Tahoma"/>
              </a:rPr>
              <a:t>Supports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10" dirty="0">
                <a:latin typeface="Tahoma"/>
                <a:cs typeface="Tahoma"/>
              </a:rPr>
              <a:t>systematic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evaluation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9137" y="2430607"/>
            <a:ext cx="15309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12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available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leads.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1993" y="2645524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6" name="object 16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0" dirty="0"/>
              <a:t>9</a:t>
            </a:fld>
            <a:r>
              <a:rPr spc="-2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2777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Proposed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5" name="object 5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6052" y="3062924"/>
            <a:ext cx="1192530" cy="18542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1000" spc="-20" dirty="0">
                <a:solidFill>
                  <a:srgbClr val="103E6D"/>
                </a:solidFill>
                <a:latin typeface="Tahoma"/>
                <a:cs typeface="Tahoma"/>
              </a:rPr>
              <a:t>Figure</a:t>
            </a:r>
            <a:r>
              <a:rPr sz="1000" spc="-25" dirty="0">
                <a:solidFill>
                  <a:srgbClr val="103E6D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103E6D"/>
                </a:solidFill>
                <a:latin typeface="Tahoma"/>
                <a:cs typeface="Tahoma"/>
              </a:rPr>
              <a:t>1:</a:t>
            </a:r>
            <a:r>
              <a:rPr sz="1000" spc="-25" dirty="0">
                <a:solidFill>
                  <a:srgbClr val="103E6D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Phase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30" dirty="0">
                <a:latin typeface="Tahoma"/>
                <a:cs typeface="Tahoma"/>
              </a:rPr>
              <a:t>P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8158" y="3062924"/>
            <a:ext cx="2097405" cy="18542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Tahoma"/>
                <a:cs typeface="Tahoma"/>
              </a:rPr>
              <a:t>5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End-</a:t>
            </a:r>
            <a:r>
              <a:rPr sz="1000" spc="-30" dirty="0">
                <a:latin typeface="Tahoma"/>
                <a:cs typeface="Tahoma"/>
              </a:rPr>
              <a:t>to-</a:t>
            </a:r>
            <a:r>
              <a:rPr sz="1000" dirty="0">
                <a:latin typeface="Tahoma"/>
                <a:cs typeface="Tahoma"/>
              </a:rPr>
              <a:t>End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System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25" dirty="0">
                <a:latin typeface="Tahoma"/>
                <a:cs typeface="Tahoma"/>
              </a:rPr>
              <a:t>Architectur</a:t>
            </a:r>
            <a:r>
              <a:rPr sz="1000" spc="-17360" dirty="0">
                <a:latin typeface="Tahoma"/>
                <a:cs typeface="Tahoma"/>
              </a:rPr>
              <a:t>e</a:t>
            </a:r>
            <a:r>
              <a:rPr sz="1000" spc="25" dirty="0">
                <a:latin typeface="Tahoma"/>
                <a:cs typeface="Tahoma"/>
              </a:rPr>
              <a:t>hase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Computer</a:t>
            </a:r>
            <a:r>
              <a:rPr spc="10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10</a:t>
            </a:fld>
            <a:r>
              <a:rPr spc="-10" dirty="0"/>
              <a:t>/22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FA93DC-AB66-253B-CD64-61F79BF18F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" y="366783"/>
            <a:ext cx="3960666" cy="269153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5" dirty="0"/>
              <a:t> </a:t>
            </a:r>
            <a:r>
              <a:rPr spc="-20" dirty="0"/>
              <a:t>Modules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34" y="493544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379" y="48439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261" y="851670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2506" y="83873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737" y="1206748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66982" y="119382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8261" y="1745454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5379" y="173383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8261" y="2112310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62506" y="209938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6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2737" y="2469981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66982" y="245704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394" y="439418"/>
            <a:ext cx="4817987" cy="254640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3980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 1 – Data &amp; Preparation: </a:t>
            </a:r>
            <a:r>
              <a:rPr sz="1000" spc="-25" dirty="0">
                <a:latin typeface="Tahoma"/>
                <a:cs typeface="Tahoma"/>
              </a:rPr>
              <a:t>Loads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standardises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prepares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12-</a:t>
            </a:r>
            <a:r>
              <a:rPr sz="1000" spc="-30" dirty="0">
                <a:latin typeface="Tahoma"/>
                <a:cs typeface="Tahoma"/>
              </a:rPr>
              <a:t>lead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input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5" dirty="0">
                <a:latin typeface="Tahoma"/>
                <a:cs typeface="Tahoma"/>
              </a:rPr>
              <a:t> lead-</a:t>
            </a:r>
            <a:r>
              <a:rPr sz="1000" spc="-30" dirty="0">
                <a:latin typeface="Tahoma"/>
                <a:cs typeface="Tahoma"/>
              </a:rPr>
              <a:t>availability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masks.</a:t>
            </a:r>
            <a:endParaRPr sz="1000" dirty="0">
              <a:latin typeface="Tahoma"/>
              <a:cs typeface="Tahoma"/>
            </a:endParaRPr>
          </a:p>
          <a:p>
            <a:pPr marL="12700" marR="29209">
              <a:lnSpc>
                <a:spcPct val="102600"/>
              </a:lnSpc>
              <a:spcBef>
                <a:spcPts val="260"/>
              </a:spcBef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 2 – Controlled Degradation: </a:t>
            </a:r>
            <a:r>
              <a:rPr sz="1000" spc="-40" dirty="0">
                <a:latin typeface="Tahoma"/>
                <a:cs typeface="Tahoma"/>
              </a:rPr>
              <a:t>Progressively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masks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leads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from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12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1 </a:t>
            </a:r>
            <a:r>
              <a:rPr sz="1000" spc="-35" dirty="0">
                <a:latin typeface="Tahoma"/>
                <a:cs typeface="Tahoma"/>
              </a:rPr>
              <a:t>using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lead-</a:t>
            </a:r>
            <a:r>
              <a:rPr sz="1000" spc="-30" dirty="0">
                <a:latin typeface="Tahoma"/>
                <a:cs typeface="Tahoma"/>
              </a:rPr>
              <a:t>availability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masks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without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reconstruction.</a:t>
            </a:r>
            <a:endParaRPr sz="10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60"/>
              </a:spcBef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 3 – Representation &amp; Observation: </a:t>
            </a:r>
            <a:r>
              <a:rPr sz="1000" spc="-35" dirty="0">
                <a:latin typeface="Tahoma"/>
                <a:cs typeface="Tahoma"/>
              </a:rPr>
              <a:t>Uses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selected</a:t>
            </a:r>
            <a:r>
              <a:rPr sz="1000" dirty="0">
                <a:latin typeface="Tahoma"/>
                <a:cs typeface="Tahoma"/>
              </a:rPr>
              <a:t> ECG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foundation </a:t>
            </a:r>
            <a:r>
              <a:rPr sz="1000" spc="-35" dirty="0">
                <a:latin typeface="Tahoma"/>
                <a:cs typeface="Tahoma"/>
              </a:rPr>
              <a:t>model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Model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Adapter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obtain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standardised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representations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structured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observations.</a:t>
            </a:r>
            <a:endParaRPr sz="1000" dirty="0">
              <a:latin typeface="Tahoma"/>
              <a:cs typeface="Tahoma"/>
            </a:endParaRPr>
          </a:p>
          <a:p>
            <a:pPr marL="12700" marR="110489">
              <a:lnSpc>
                <a:spcPct val="102600"/>
              </a:lnSpc>
              <a:spcBef>
                <a:spcPts val="260"/>
              </a:spcBef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 4 – Reasoning: </a:t>
            </a:r>
            <a:r>
              <a:rPr sz="1000" dirty="0">
                <a:latin typeface="Tahoma"/>
                <a:cs typeface="Tahoma"/>
              </a:rPr>
              <a:t>Builds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hypothesis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space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candidate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evidence,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then </a:t>
            </a:r>
            <a:r>
              <a:rPr sz="1000" spc="-45" dirty="0">
                <a:latin typeface="Tahoma"/>
                <a:cs typeface="Tahoma"/>
              </a:rPr>
              <a:t>performs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ECG-</a:t>
            </a:r>
            <a:r>
              <a:rPr sz="1000" dirty="0">
                <a:latin typeface="Tahoma"/>
                <a:cs typeface="Tahoma"/>
              </a:rPr>
              <a:t>only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CKP-</a:t>
            </a:r>
            <a:r>
              <a:rPr sz="1000" spc="-10" dirty="0">
                <a:latin typeface="Tahoma"/>
                <a:cs typeface="Tahoma"/>
              </a:rPr>
              <a:t>assisted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reasoning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using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trainable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Transformer.</a:t>
            </a:r>
            <a:endParaRPr sz="1000" dirty="0">
              <a:latin typeface="Tahoma"/>
              <a:cs typeface="Tahoma"/>
            </a:endParaRPr>
          </a:p>
          <a:p>
            <a:pPr marL="12700" marR="333375">
              <a:lnSpc>
                <a:spcPct val="102600"/>
              </a:lnSpc>
              <a:spcBef>
                <a:spcPts val="260"/>
              </a:spcBef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 5 – Grounding: </a:t>
            </a:r>
            <a:r>
              <a:rPr sz="1000" dirty="0">
                <a:latin typeface="Tahoma"/>
                <a:cs typeface="Tahoma"/>
              </a:rPr>
              <a:t>Maps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 </a:t>
            </a:r>
            <a:r>
              <a:rPr sz="1000" spc="-55" dirty="0">
                <a:latin typeface="Tahoma"/>
                <a:cs typeface="Tahoma"/>
              </a:rPr>
              <a:t>generated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reasoning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claims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Evidence </a:t>
            </a:r>
            <a:r>
              <a:rPr sz="1000" spc="-55" dirty="0">
                <a:latin typeface="Tahoma"/>
                <a:cs typeface="Tahoma"/>
              </a:rPr>
              <a:t>Schema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verifies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them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against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available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evidence.</a:t>
            </a:r>
            <a:endParaRPr sz="1000" dirty="0">
              <a:latin typeface="Tahoma"/>
              <a:cs typeface="Tahoma"/>
            </a:endParaRPr>
          </a:p>
          <a:p>
            <a:pPr marL="12700" marR="87630">
              <a:lnSpc>
                <a:spcPct val="102600"/>
              </a:lnSpc>
              <a:spcBef>
                <a:spcPts val="265"/>
              </a:spcBef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 6 – Evaluation &amp; RFB: </a:t>
            </a:r>
            <a:r>
              <a:rPr sz="1000" spc="-40" dirty="0">
                <a:latin typeface="Tahoma"/>
                <a:cs typeface="Tahoma"/>
              </a:rPr>
              <a:t>Measures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Grounding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Quality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diagnostic </a:t>
            </a:r>
            <a:r>
              <a:rPr sz="1000" spc="-50" dirty="0">
                <a:latin typeface="Tahoma"/>
                <a:cs typeface="Tahoma"/>
              </a:rPr>
              <a:t>performance,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constructs</a:t>
            </a:r>
            <a:r>
              <a:rPr sz="1000" spc="-10" dirty="0">
                <a:latin typeface="Tahoma"/>
                <a:cs typeface="Tahoma"/>
              </a:rPr>
              <a:t> the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Reasoning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Degradation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Curve,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derives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AURDC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Reasoning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Failure</a:t>
            </a:r>
            <a:r>
              <a:rPr sz="1000" spc="-35" dirty="0">
                <a:latin typeface="Tahoma"/>
                <a:cs typeface="Tahoma"/>
              </a:rPr>
              <a:t> Boundary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(RFB).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7" name="object 17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19197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11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8948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Methodology</a:t>
            </a:r>
            <a:r>
              <a:rPr spc="5" dirty="0"/>
              <a:t> </a:t>
            </a:r>
            <a:r>
              <a:rPr spc="160" dirty="0"/>
              <a:t>/</a:t>
            </a:r>
            <a:r>
              <a:rPr spc="5" dirty="0"/>
              <a:t> </a:t>
            </a:r>
            <a:r>
              <a:rPr spc="-30" dirty="0"/>
              <a:t>Workflow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134" y="828163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379" y="81523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134" y="1038196"/>
            <a:ext cx="114214" cy="1142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134" y="1248228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65379" y="1025263"/>
            <a:ext cx="66040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1134" y="1458261"/>
            <a:ext cx="114214" cy="1142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134" y="1668294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5379" y="1445328"/>
            <a:ext cx="66040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134" y="1878326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65379" y="186539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394" y="730260"/>
            <a:ext cx="2272030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Preparation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ECG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Preprocessing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Lead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Masking </a:t>
            </a:r>
            <a:r>
              <a:rPr sz="1100" spc="-35" dirty="0">
                <a:latin typeface="Tahoma"/>
                <a:cs typeface="Tahoma"/>
              </a:rPr>
              <a:t>Foundation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Model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Representation </a:t>
            </a:r>
            <a:r>
              <a:rPr sz="1100" spc="-35" dirty="0">
                <a:latin typeface="Tahoma"/>
                <a:cs typeface="Tahoma"/>
              </a:rPr>
              <a:t>Hypothesis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CKP-</a:t>
            </a:r>
            <a:r>
              <a:rPr sz="1100" spc="-10" dirty="0">
                <a:latin typeface="Tahoma"/>
                <a:cs typeface="Tahoma"/>
              </a:rPr>
              <a:t>Assisted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Reasoning </a:t>
            </a:r>
            <a:r>
              <a:rPr sz="1100" dirty="0">
                <a:latin typeface="Tahoma"/>
                <a:cs typeface="Tahoma"/>
              </a:rPr>
              <a:t>Claim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Grounding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Verification </a:t>
            </a:r>
            <a:r>
              <a:rPr sz="1100" spc="-40" dirty="0">
                <a:latin typeface="Tahoma"/>
                <a:cs typeface="Tahoma"/>
              </a:rPr>
              <a:t>Degradation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Analysis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RFB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70184" y="874343"/>
            <a:ext cx="1889125" cy="187960"/>
          </a:xfrm>
          <a:custGeom>
            <a:avLst/>
            <a:gdLst/>
            <a:ahLst/>
            <a:cxnLst/>
            <a:rect l="l" t="t" r="r" b="b"/>
            <a:pathLst>
              <a:path w="1889125" h="187959">
                <a:moveTo>
                  <a:pt x="183784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1888643" y="187819"/>
                </a:lnTo>
                <a:lnTo>
                  <a:pt x="1888643" y="50800"/>
                </a:lnTo>
                <a:lnTo>
                  <a:pt x="1884634" y="31075"/>
                </a:lnTo>
                <a:lnTo>
                  <a:pt x="1873720" y="14922"/>
                </a:lnTo>
                <a:lnTo>
                  <a:pt x="1857567" y="4008"/>
                </a:lnTo>
                <a:lnTo>
                  <a:pt x="183784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0985" y="842666"/>
            <a:ext cx="115760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Evaluation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70184" y="1049515"/>
            <a:ext cx="1889125" cy="1563814"/>
            <a:chOff x="3670184" y="1049515"/>
            <a:chExt cx="1889125" cy="1563814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70184" y="1049515"/>
              <a:ext cx="1888642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70184" y="1093774"/>
              <a:ext cx="1889125" cy="1519555"/>
            </a:xfrm>
            <a:custGeom>
              <a:avLst/>
              <a:gdLst/>
              <a:ahLst/>
              <a:cxnLst/>
              <a:rect l="l" t="t" r="r" b="b"/>
              <a:pathLst>
                <a:path w="1889125" h="1519555">
                  <a:moveTo>
                    <a:pt x="1888643" y="0"/>
                  </a:moveTo>
                  <a:lnTo>
                    <a:pt x="0" y="0"/>
                  </a:lnTo>
                  <a:lnTo>
                    <a:pt x="0" y="1468196"/>
                  </a:lnTo>
                  <a:lnTo>
                    <a:pt x="4008" y="1487920"/>
                  </a:lnTo>
                  <a:lnTo>
                    <a:pt x="14922" y="1504073"/>
                  </a:lnTo>
                  <a:lnTo>
                    <a:pt x="31075" y="1514988"/>
                  </a:lnTo>
                  <a:lnTo>
                    <a:pt x="50800" y="1518996"/>
                  </a:lnTo>
                  <a:lnTo>
                    <a:pt x="1837843" y="1518996"/>
                  </a:lnTo>
                  <a:lnTo>
                    <a:pt x="1857567" y="1514988"/>
                  </a:lnTo>
                  <a:lnTo>
                    <a:pt x="1873720" y="1504073"/>
                  </a:lnTo>
                  <a:lnTo>
                    <a:pt x="1884634" y="1487920"/>
                  </a:lnTo>
                  <a:lnTo>
                    <a:pt x="1888643" y="1468196"/>
                  </a:lnTo>
                  <a:lnTo>
                    <a:pt x="1888643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20985" y="1020290"/>
            <a:ext cx="1889125" cy="1553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76860" indent="-177165">
              <a:lnSpc>
                <a:spcPct val="100000"/>
              </a:lnSpc>
              <a:spcBef>
                <a:spcPts val="434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35" dirty="0">
                <a:latin typeface="Tahoma"/>
                <a:cs typeface="Tahoma"/>
              </a:rPr>
              <a:t>Grounding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Quality</a:t>
            </a:r>
            <a:endParaRPr sz="1100">
              <a:latin typeface="Tahoma"/>
              <a:cs typeface="Tahoma"/>
            </a:endParaRPr>
          </a:p>
          <a:p>
            <a:pPr marL="276860" marR="29337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45" dirty="0">
                <a:latin typeface="Tahoma"/>
                <a:cs typeface="Tahoma"/>
              </a:rPr>
              <a:t>Reasoning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degradation </a:t>
            </a:r>
            <a:r>
              <a:rPr sz="1100" spc="-10" dirty="0">
                <a:latin typeface="Tahoma"/>
                <a:cs typeface="Tahoma"/>
              </a:rPr>
              <a:t>Curve</a:t>
            </a:r>
            <a:endParaRPr sz="1100">
              <a:latin typeface="Tahoma"/>
              <a:cs typeface="Tahoma"/>
            </a:endParaRPr>
          </a:p>
          <a:p>
            <a:pPr marL="276860" marR="583565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45" dirty="0">
                <a:latin typeface="Tahoma"/>
                <a:cs typeface="Tahoma"/>
              </a:rPr>
              <a:t>Reasoning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Failure </a:t>
            </a:r>
            <a:r>
              <a:rPr sz="1100" spc="-10" dirty="0">
                <a:latin typeface="Tahoma"/>
                <a:cs typeface="Tahoma"/>
              </a:rPr>
              <a:t>Boundary</a:t>
            </a:r>
            <a:endParaRPr sz="1100">
              <a:latin typeface="Tahoma"/>
              <a:cs typeface="Tahoma"/>
            </a:endParaRPr>
          </a:p>
          <a:p>
            <a:pPr marL="276860" marR="265430" indent="-177165">
              <a:lnSpc>
                <a:spcPct val="102600"/>
              </a:lnSpc>
              <a:spcBef>
                <a:spcPts val="300"/>
              </a:spcBef>
              <a:buClr>
                <a:srgbClr val="1E87E5"/>
              </a:buClr>
              <a:buFont typeface="Lucida Sans Unicode"/>
              <a:buChar char="►"/>
              <a:tabLst>
                <a:tab pos="276860" algn="l"/>
              </a:tabLst>
            </a:pPr>
            <a:r>
              <a:rPr sz="1100" spc="-10" dirty="0">
                <a:latin typeface="Tahoma"/>
                <a:cs typeface="Tahoma"/>
              </a:rPr>
              <a:t>Area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Under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Reasoning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Degradation </a:t>
            </a:r>
            <a:r>
              <a:rPr sz="1100" spc="-25" dirty="0">
                <a:latin typeface="Tahoma"/>
                <a:cs typeface="Tahoma"/>
              </a:rPr>
              <a:t>Curve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(AURDC)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22" name="object 22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19197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12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Core</a:t>
            </a:r>
            <a:r>
              <a:rPr spc="-35" dirty="0"/>
              <a:t> </a:t>
            </a:r>
            <a:r>
              <a:rPr spc="-10" dirty="0"/>
              <a:t>Algorithm</a:t>
            </a:r>
            <a:r>
              <a:rPr spc="-35" dirty="0"/>
              <a:t> </a:t>
            </a:r>
            <a:r>
              <a:rPr spc="160" dirty="0"/>
              <a:t>/</a:t>
            </a:r>
            <a:r>
              <a:rPr spc="-30" dirty="0"/>
              <a:t> </a:t>
            </a:r>
            <a:r>
              <a:rPr spc="-40" dirty="0"/>
              <a:t>Processing </a:t>
            </a:r>
            <a:r>
              <a:rPr spc="-10" dirty="0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201192" y="806817"/>
            <a:ext cx="5358130" cy="198755"/>
          </a:xfrm>
          <a:custGeom>
            <a:avLst/>
            <a:gdLst/>
            <a:ahLst/>
            <a:cxnLst/>
            <a:rect l="l" t="t" r="r" b="b"/>
            <a:pathLst>
              <a:path w="5358130" h="198755">
                <a:moveTo>
                  <a:pt x="530687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2"/>
                </a:lnTo>
                <a:lnTo>
                  <a:pt x="5357673" y="198362"/>
                </a:lnTo>
                <a:lnTo>
                  <a:pt x="5357673" y="50800"/>
                </a:lnTo>
                <a:lnTo>
                  <a:pt x="5353664" y="31075"/>
                </a:lnTo>
                <a:lnTo>
                  <a:pt x="5342750" y="14922"/>
                </a:lnTo>
                <a:lnTo>
                  <a:pt x="5326598" y="4008"/>
                </a:lnTo>
                <a:lnTo>
                  <a:pt x="530687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993" y="775140"/>
            <a:ext cx="307276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Algorithm: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Clinical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Knowledge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Prior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Construction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192" y="992530"/>
            <a:ext cx="5358130" cy="1465402"/>
            <a:chOff x="201192" y="992530"/>
            <a:chExt cx="5358130" cy="1465402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92" y="992530"/>
              <a:ext cx="535767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1192" y="1036802"/>
              <a:ext cx="5358130" cy="1421130"/>
            </a:xfrm>
            <a:custGeom>
              <a:avLst/>
              <a:gdLst/>
              <a:ahLst/>
              <a:cxnLst/>
              <a:rect l="l" t="t" r="r" b="b"/>
              <a:pathLst>
                <a:path w="5358130" h="1421130">
                  <a:moveTo>
                    <a:pt x="5357673" y="0"/>
                  </a:moveTo>
                  <a:lnTo>
                    <a:pt x="0" y="0"/>
                  </a:lnTo>
                  <a:lnTo>
                    <a:pt x="0" y="1369720"/>
                  </a:lnTo>
                  <a:lnTo>
                    <a:pt x="4008" y="1389445"/>
                  </a:lnTo>
                  <a:lnTo>
                    <a:pt x="14922" y="1405598"/>
                  </a:lnTo>
                  <a:lnTo>
                    <a:pt x="31075" y="1416512"/>
                  </a:lnTo>
                  <a:lnTo>
                    <a:pt x="50800" y="1420520"/>
                  </a:lnTo>
                  <a:lnTo>
                    <a:pt x="5306873" y="1420520"/>
                  </a:lnTo>
                  <a:lnTo>
                    <a:pt x="5326598" y="1416512"/>
                  </a:lnTo>
                  <a:lnTo>
                    <a:pt x="5342750" y="1405598"/>
                  </a:lnTo>
                  <a:lnTo>
                    <a:pt x="5353664" y="1389445"/>
                  </a:lnTo>
                  <a:lnTo>
                    <a:pt x="5357673" y="1369720"/>
                  </a:lnTo>
                  <a:lnTo>
                    <a:pt x="5357673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134" y="1066593"/>
              <a:ext cx="114214" cy="1142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134" y="1276626"/>
              <a:ext cx="114214" cy="11421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5379" y="1053660"/>
            <a:ext cx="66040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1134" y="1486658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65379" y="147372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134" y="1868763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65379" y="185583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1134" y="2078796"/>
            <a:ext cx="114300" cy="324485"/>
            <a:chOff x="341134" y="2078796"/>
            <a:chExt cx="114300" cy="324485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134" y="2078796"/>
              <a:ext cx="114214" cy="11421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1134" y="2288828"/>
              <a:ext cx="114214" cy="11421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65379" y="2065863"/>
            <a:ext cx="66040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6394" y="968703"/>
            <a:ext cx="4536440" cy="14579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Obtain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ECG-</a:t>
            </a:r>
            <a:r>
              <a:rPr sz="1100" spc="-20" dirty="0">
                <a:latin typeface="Tahoma"/>
                <a:cs typeface="Tahoma"/>
              </a:rPr>
              <a:t>relevant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concepts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SNOMED-</a:t>
            </a:r>
            <a:r>
              <a:rPr sz="1100" spc="-25" dirty="0">
                <a:latin typeface="Tahoma"/>
                <a:cs typeface="Tahoma"/>
              </a:rPr>
              <a:t>CT.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35" dirty="0">
                <a:latin typeface="Tahoma"/>
                <a:cs typeface="Tahoma"/>
              </a:rPr>
              <a:t>Identify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findings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their </a:t>
            </a:r>
            <a:r>
              <a:rPr sz="1100" spc="-45" dirty="0">
                <a:latin typeface="Tahoma"/>
                <a:cs typeface="Tahoma"/>
              </a:rPr>
              <a:t>associated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relationships.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95"/>
              </a:spcBef>
            </a:pPr>
            <a:r>
              <a:rPr sz="1100" spc="-35" dirty="0">
                <a:latin typeface="Tahoma"/>
                <a:cs typeface="Tahoma"/>
              </a:rPr>
              <a:t>Organise </a:t>
            </a:r>
            <a:r>
              <a:rPr sz="1100" spc="-45" dirty="0">
                <a:latin typeface="Tahoma"/>
                <a:cs typeface="Tahoma"/>
              </a:rPr>
              <a:t>concepts,</a:t>
            </a:r>
            <a:r>
              <a:rPr sz="1100" spc="-35" dirty="0">
                <a:latin typeface="Tahoma"/>
                <a:cs typeface="Tahoma"/>
              </a:rPr>
              <a:t> findings,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35" dirty="0">
                <a:latin typeface="Tahoma"/>
                <a:cs typeface="Tahoma"/>
              </a:rPr>
              <a:t> relationships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ECG-</a:t>
            </a:r>
            <a:r>
              <a:rPr sz="1100" spc="-20" dirty="0">
                <a:latin typeface="Tahoma"/>
                <a:cs typeface="Tahoma"/>
              </a:rPr>
              <a:t>specific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knowledge </a:t>
            </a:r>
            <a:r>
              <a:rPr sz="1100" spc="-10" dirty="0">
                <a:latin typeface="Tahoma"/>
                <a:cs typeface="Tahoma"/>
              </a:rPr>
              <a:t>structure.</a:t>
            </a:r>
            <a:endParaRPr sz="1100">
              <a:latin typeface="Tahoma"/>
              <a:cs typeface="Tahoma"/>
            </a:endParaRPr>
          </a:p>
          <a:p>
            <a:pPr marL="12700" marR="953135">
              <a:lnSpc>
                <a:spcPct val="125299"/>
              </a:lnSpc>
            </a:pPr>
            <a:r>
              <a:rPr sz="1100" spc="-25" dirty="0">
                <a:latin typeface="Tahoma"/>
                <a:cs typeface="Tahoma"/>
              </a:rPr>
              <a:t>Define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evidence-</a:t>
            </a:r>
            <a:r>
              <a:rPr sz="1100" spc="-55" dirty="0">
                <a:latin typeface="Tahoma"/>
                <a:cs typeface="Tahoma"/>
              </a:rPr>
              <a:t>to-</a:t>
            </a:r>
            <a:r>
              <a:rPr sz="1100" spc="-45" dirty="0">
                <a:latin typeface="Tahoma"/>
                <a:cs typeface="Tahoma"/>
              </a:rPr>
              <a:t>disease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verification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rules. </a:t>
            </a:r>
            <a:r>
              <a:rPr sz="1100" spc="-20" dirty="0">
                <a:latin typeface="Tahoma"/>
                <a:cs typeface="Tahoma"/>
              </a:rPr>
              <a:t>Construct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ECG-specific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Clinical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Knowledge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Prior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(CKP). </a:t>
            </a:r>
            <a:r>
              <a:rPr sz="1100" spc="-35" dirty="0">
                <a:latin typeface="Tahoma"/>
                <a:cs typeface="Tahoma"/>
              </a:rPr>
              <a:t>Retrieve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candidate-</a:t>
            </a:r>
            <a:r>
              <a:rPr sz="1100" spc="-35" dirty="0">
                <a:latin typeface="Tahoma"/>
                <a:cs typeface="Tahoma"/>
              </a:rPr>
              <a:t>relevant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CKP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during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reasoning.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22" name="object 22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19197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13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Technology</a:t>
            </a:r>
            <a:r>
              <a:rPr spc="-50" dirty="0"/>
              <a:t> </a:t>
            </a:r>
            <a:r>
              <a:rPr dirty="0"/>
              <a:t>Stack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0" dirty="0"/>
              <a:t> Resources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251993" y="919276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5212" y="931867"/>
            <a:ext cx="66268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26980" y="931867"/>
            <a:ext cx="1719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Selected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Technology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Resource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993" y="1144714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5212" y="1155235"/>
            <a:ext cx="1348487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Language &amp; Libraries Framework</a:t>
            </a:r>
          </a:p>
          <a:p>
            <a:pPr marL="12700" marR="64135">
              <a:lnSpc>
                <a:spcPts val="1200"/>
              </a:lnSpc>
              <a:spcBef>
                <a:spcPts val="30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Pre-built ECG Tools Database</a:t>
            </a:r>
          </a:p>
          <a:p>
            <a:pPr marL="12700">
              <a:lnSpc>
                <a:spcPts val="1150"/>
              </a:lnSpc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</a:t>
            </a:r>
          </a:p>
          <a:p>
            <a:pPr marL="12700" marR="115570">
              <a:lnSpc>
                <a:spcPts val="1200"/>
              </a:lnSpc>
              <a:spcBef>
                <a:spcPts val="40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Tools Hardware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995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Python,</a:t>
            </a:r>
            <a:r>
              <a:rPr spc="-55" dirty="0"/>
              <a:t> </a:t>
            </a:r>
            <a:r>
              <a:rPr spc="-10" dirty="0"/>
              <a:t>NumPy,</a:t>
            </a:r>
            <a:r>
              <a:rPr spc="-60" dirty="0"/>
              <a:t> </a:t>
            </a:r>
            <a:r>
              <a:rPr dirty="0"/>
              <a:t>SciPy,</a:t>
            </a:r>
            <a:r>
              <a:rPr spc="-60" dirty="0"/>
              <a:t> </a:t>
            </a:r>
            <a:r>
              <a:rPr spc="-10" dirty="0"/>
              <a:t>Pandas PyTorch</a:t>
            </a:r>
            <a:r>
              <a:rPr spc="-35" dirty="0"/>
              <a:t> </a:t>
            </a:r>
            <a:r>
              <a:rPr spc="105" dirty="0"/>
              <a:t>/</a:t>
            </a:r>
            <a:r>
              <a:rPr spc="-25" dirty="0"/>
              <a:t> Hugging</a:t>
            </a:r>
            <a:r>
              <a:rPr spc="-30" dirty="0"/>
              <a:t> </a:t>
            </a:r>
            <a:r>
              <a:rPr spc="-20" dirty="0"/>
              <a:t>Face</a:t>
            </a:r>
            <a:r>
              <a:rPr spc="-30" dirty="0"/>
              <a:t> </a:t>
            </a:r>
            <a:r>
              <a:rPr spc="-45" dirty="0"/>
              <a:t>Transformers</a:t>
            </a:r>
          </a:p>
          <a:p>
            <a:pPr marL="12700" marR="5080">
              <a:lnSpc>
                <a:spcPts val="1200"/>
              </a:lnSpc>
              <a:spcBef>
                <a:spcPts val="30"/>
              </a:spcBef>
            </a:pPr>
            <a:r>
              <a:rPr dirty="0"/>
              <a:t>WFDB,</a:t>
            </a:r>
            <a:r>
              <a:rPr spc="35" dirty="0"/>
              <a:t> </a:t>
            </a:r>
            <a:r>
              <a:rPr spc="-10" dirty="0"/>
              <a:t>NeuroKit2,</a:t>
            </a:r>
            <a:r>
              <a:rPr spc="40" dirty="0"/>
              <a:t> </a:t>
            </a:r>
            <a:r>
              <a:rPr dirty="0"/>
              <a:t>ECG</a:t>
            </a:r>
            <a:r>
              <a:rPr spc="40" dirty="0"/>
              <a:t> </a:t>
            </a:r>
            <a:r>
              <a:rPr spc="-50" dirty="0"/>
              <a:t>preprocessing</a:t>
            </a:r>
            <a:r>
              <a:rPr spc="40" dirty="0"/>
              <a:t> </a:t>
            </a:r>
            <a:r>
              <a:rPr spc="-25" dirty="0"/>
              <a:t>and</a:t>
            </a:r>
            <a:r>
              <a:rPr spc="35" dirty="0"/>
              <a:t> </a:t>
            </a:r>
            <a:r>
              <a:rPr spc="-45" dirty="0"/>
              <a:t>signal-processing</a:t>
            </a:r>
            <a:r>
              <a:rPr spc="45" dirty="0"/>
              <a:t> </a:t>
            </a:r>
            <a:r>
              <a:rPr spc="-10" dirty="0"/>
              <a:t>utilities </a:t>
            </a:r>
            <a:r>
              <a:rPr dirty="0"/>
              <a:t>Not</a:t>
            </a:r>
            <a:r>
              <a:rPr spc="30" dirty="0"/>
              <a:t> </a:t>
            </a:r>
            <a:r>
              <a:rPr spc="-10" dirty="0"/>
              <a:t>required</a:t>
            </a:r>
          </a:p>
          <a:p>
            <a:pPr marL="12700">
              <a:lnSpc>
                <a:spcPts val="1150"/>
              </a:lnSpc>
            </a:pPr>
            <a:r>
              <a:rPr dirty="0"/>
              <a:t>PTB-XL,</a:t>
            </a:r>
            <a:r>
              <a:rPr spc="185" dirty="0"/>
              <a:t> </a:t>
            </a:r>
            <a:r>
              <a:rPr spc="-20" dirty="0"/>
              <a:t>MIMIC-</a:t>
            </a:r>
            <a:r>
              <a:rPr spc="-10" dirty="0"/>
              <a:t>IV-</a:t>
            </a:r>
            <a:r>
              <a:rPr dirty="0"/>
              <a:t>ECG,</a:t>
            </a:r>
            <a:r>
              <a:rPr spc="185" dirty="0"/>
              <a:t> </a:t>
            </a:r>
            <a:r>
              <a:rPr spc="-45" dirty="0"/>
              <a:t>Chapman-</a:t>
            </a:r>
            <a:r>
              <a:rPr spc="-40" dirty="0"/>
              <a:t>Shaoxing,</a:t>
            </a:r>
            <a:r>
              <a:rPr spc="190" dirty="0"/>
              <a:t> </a:t>
            </a:r>
            <a:r>
              <a:rPr dirty="0"/>
              <a:t>SNOMED-</a:t>
            </a:r>
            <a:r>
              <a:rPr spc="-25" dirty="0"/>
              <a:t>CT</a:t>
            </a:r>
          </a:p>
          <a:p>
            <a:pPr marL="12700" marR="932180">
              <a:lnSpc>
                <a:spcPts val="1200"/>
              </a:lnSpc>
              <a:spcBef>
                <a:spcPts val="40"/>
              </a:spcBef>
            </a:pPr>
            <a:r>
              <a:rPr spc="-25" dirty="0"/>
              <a:t>Jupyter</a:t>
            </a:r>
            <a:r>
              <a:rPr dirty="0"/>
              <a:t> </a:t>
            </a:r>
            <a:r>
              <a:rPr spc="105" dirty="0"/>
              <a:t>/</a:t>
            </a:r>
            <a:r>
              <a:rPr spc="5" dirty="0"/>
              <a:t> </a:t>
            </a:r>
            <a:r>
              <a:rPr dirty="0"/>
              <a:t>VS</a:t>
            </a:r>
            <a:r>
              <a:rPr spc="5" dirty="0"/>
              <a:t> </a:t>
            </a:r>
            <a:r>
              <a:rPr spc="-20" dirty="0"/>
              <a:t>Code,</a:t>
            </a:r>
            <a:r>
              <a:rPr spc="10" dirty="0"/>
              <a:t> </a:t>
            </a:r>
            <a:r>
              <a:rPr dirty="0"/>
              <a:t>Git,</a:t>
            </a:r>
            <a:r>
              <a:rPr spc="5" dirty="0"/>
              <a:t> </a:t>
            </a:r>
            <a:r>
              <a:rPr spc="-35" dirty="0"/>
              <a:t>GPU-</a:t>
            </a:r>
            <a:r>
              <a:rPr spc="-20" dirty="0"/>
              <a:t>enabled</a:t>
            </a:r>
            <a:r>
              <a:rPr spc="5" dirty="0"/>
              <a:t> </a:t>
            </a:r>
            <a:r>
              <a:rPr spc="-30" dirty="0"/>
              <a:t>environment </a:t>
            </a:r>
            <a:r>
              <a:rPr spc="-35" dirty="0"/>
              <a:t>GPU-</a:t>
            </a:r>
            <a:r>
              <a:rPr spc="-20" dirty="0"/>
              <a:t>enabled</a:t>
            </a:r>
            <a:r>
              <a:rPr dirty="0"/>
              <a:t> </a:t>
            </a:r>
            <a:r>
              <a:rPr spc="-55" dirty="0"/>
              <a:t>system,</a:t>
            </a:r>
            <a:r>
              <a:rPr dirty="0"/>
              <a:t> </a:t>
            </a:r>
            <a:r>
              <a:rPr spc="-25" dirty="0"/>
              <a:t>sufficient</a:t>
            </a:r>
            <a:r>
              <a:rPr spc="5" dirty="0"/>
              <a:t> </a:t>
            </a:r>
            <a:r>
              <a:rPr spc="50" dirty="0"/>
              <a:t>RAM</a:t>
            </a:r>
            <a:r>
              <a:rPr spc="5" dirty="0"/>
              <a:t> </a:t>
            </a:r>
            <a:r>
              <a:rPr spc="-25" dirty="0"/>
              <a:t>and</a:t>
            </a:r>
            <a:r>
              <a:rPr dirty="0"/>
              <a:t> </a:t>
            </a:r>
            <a:r>
              <a:rPr spc="-10" dirty="0"/>
              <a:t>storage</a:t>
            </a:r>
          </a:p>
        </p:txBody>
      </p:sp>
      <p:sp>
        <p:nvSpPr>
          <p:cNvPr id="9" name="object 9"/>
          <p:cNvSpPr/>
          <p:nvPr/>
        </p:nvSpPr>
        <p:spPr>
          <a:xfrm>
            <a:off x="251993" y="2281123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1" name="object 11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14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171068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Implementation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Status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1993" y="797813"/>
          <a:ext cx="5256529" cy="1663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>
                          <a:latin typeface="Arial Black"/>
                          <a:cs typeface="Arial Black"/>
                        </a:rPr>
                        <a:t>Component</a:t>
                      </a:r>
                      <a:endParaRPr sz="1000">
                        <a:latin typeface="Arial Black"/>
                        <a:cs typeface="Arial Black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18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>
                          <a:latin typeface="Arial Black"/>
                          <a:cs typeface="Arial Black"/>
                        </a:rPr>
                        <a:t>Status</a:t>
                      </a:r>
                      <a:endParaRPr sz="1000">
                        <a:latin typeface="Arial Black"/>
                        <a:cs typeface="Arial Black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30" dirty="0">
                          <a:latin typeface="Arial Black"/>
                          <a:cs typeface="Arial Black"/>
                        </a:rPr>
                        <a:t>Evidence</a:t>
                      </a:r>
                      <a:r>
                        <a:rPr sz="1000" spc="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spc="270" dirty="0">
                          <a:latin typeface="Arial Black"/>
                          <a:cs typeface="Arial Black"/>
                        </a:rPr>
                        <a:t>/</a:t>
                      </a:r>
                      <a:r>
                        <a:rPr sz="1000" spc="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spc="-10" dirty="0">
                          <a:latin typeface="Arial Black"/>
                          <a:cs typeface="Arial Black"/>
                        </a:rPr>
                        <a:t>Remarks</a:t>
                      </a:r>
                      <a:endParaRPr sz="1000">
                        <a:latin typeface="Arial Black"/>
                        <a:cs typeface="Arial Black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40" dirty="0">
                          <a:latin typeface="Tahoma"/>
                          <a:cs typeface="Tahoma"/>
                        </a:rPr>
                        <a:t>Requirements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 and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Design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01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Completed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40" dirty="0">
                          <a:latin typeface="Tahoma"/>
                          <a:cs typeface="Tahoma"/>
                        </a:rPr>
                        <a:t>Objectives,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latin typeface="Tahoma"/>
                          <a:cs typeface="Tahoma"/>
                        </a:rPr>
                        <a:t>scope,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5" dirty="0">
                          <a:latin typeface="Tahoma"/>
                          <a:cs typeface="Tahoma"/>
                        </a:rPr>
                        <a:t>and </a:t>
                      </a:r>
                      <a:r>
                        <a:rPr sz="1000" spc="-40" dirty="0">
                          <a:latin typeface="Tahoma"/>
                          <a:cs typeface="Tahoma"/>
                        </a:rPr>
                        <a:t>architecture</a:t>
                      </a:r>
                      <a:r>
                        <a:rPr sz="1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de-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75565">
                        <a:lnSpc>
                          <a:spcPts val="1075"/>
                        </a:lnSpc>
                        <a:spcBef>
                          <a:spcPts val="108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Datasets</a:t>
                      </a:r>
                      <a:r>
                        <a:rPr sz="10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70" dirty="0">
                          <a:latin typeface="Tahoma"/>
                          <a:cs typeface="Tahoma"/>
                        </a:rPr>
                        <a:t>&amp;</a:t>
                      </a:r>
                      <a:r>
                        <a:rPr sz="10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45" dirty="0">
                          <a:latin typeface="Tahoma"/>
                          <a:cs typeface="Tahoma"/>
                        </a:rPr>
                        <a:t>Input</a:t>
                      </a:r>
                      <a:r>
                        <a:rPr sz="10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Preparation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37160" marB="0"/>
                </a:tc>
                <a:tc>
                  <a:txBody>
                    <a:bodyPr/>
                    <a:lstStyle/>
                    <a:p>
                      <a:pPr marL="210185" algn="ctr">
                        <a:lnSpc>
                          <a:spcPts val="1075"/>
                        </a:lnSpc>
                        <a:spcBef>
                          <a:spcPts val="1080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Planned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3716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08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fined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26364">
                        <a:lnSpc>
                          <a:spcPts val="107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Datasets</a:t>
                      </a:r>
                      <a:r>
                        <a:rPr sz="10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SNOMED-CT</a:t>
                      </a:r>
                      <a:r>
                        <a:rPr sz="1000" spc="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identified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1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Preprocessing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0955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Planned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ECG</a:t>
                      </a:r>
                      <a:r>
                        <a:rPr sz="100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standardisation</a:t>
                      </a:r>
                      <a:r>
                        <a:rPr sz="100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preprocess-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75565">
                        <a:lnSpc>
                          <a:spcPts val="1075"/>
                        </a:lnSpc>
                        <a:spcBef>
                          <a:spcPts val="1080"/>
                        </a:spcBef>
                      </a:pPr>
                      <a:r>
                        <a:rPr sz="1000" spc="-40" dirty="0">
                          <a:latin typeface="Tahoma"/>
                          <a:cs typeface="Tahoma"/>
                        </a:rPr>
                        <a:t>Reasoning</a:t>
                      </a:r>
                      <a:r>
                        <a:rPr sz="1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70" dirty="0">
                          <a:latin typeface="Tahoma"/>
                          <a:cs typeface="Tahoma"/>
                        </a:rPr>
                        <a:t>&amp;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70" dirty="0">
                          <a:latin typeface="Tahoma"/>
                          <a:cs typeface="Tahoma"/>
                        </a:rPr>
                        <a:t>CKP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Framework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37160" marB="0"/>
                </a:tc>
                <a:tc>
                  <a:txBody>
                    <a:bodyPr/>
                    <a:lstStyle/>
                    <a:p>
                      <a:pPr marL="210185" algn="ctr">
                        <a:lnSpc>
                          <a:spcPts val="1075"/>
                        </a:lnSpc>
                        <a:spcBef>
                          <a:spcPts val="1080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Planned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3716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08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ing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26364">
                        <a:lnSpc>
                          <a:spcPts val="107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ECG-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only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70" dirty="0">
                          <a:latin typeface="Tahoma"/>
                          <a:cs typeface="Tahoma"/>
                        </a:rPr>
                        <a:t>CKP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paths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 defined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sz="1000" spc="-35" dirty="0">
                          <a:latin typeface="Tahoma"/>
                          <a:cs typeface="Tahoma"/>
                        </a:rPr>
                        <a:t>Grounding</a:t>
                      </a:r>
                      <a:r>
                        <a:rPr sz="10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70" dirty="0">
                          <a:latin typeface="Tahoma"/>
                          <a:cs typeface="Tahoma"/>
                        </a:rPr>
                        <a:t>&amp;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Evaluation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10185" algn="ctr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Planned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sz="1000" spc="-40" dirty="0">
                          <a:latin typeface="Tahoma"/>
                          <a:cs typeface="Tahoma"/>
                        </a:rPr>
                        <a:t>Grounding,</a:t>
                      </a:r>
                      <a:r>
                        <a:rPr sz="10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AURDC,</a:t>
                      </a:r>
                      <a:r>
                        <a:rPr sz="10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4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RFB</a:t>
                      </a:r>
                      <a:r>
                        <a:rPr sz="10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defined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Testing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10185" algn="ctr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Planned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Module</a:t>
                      </a:r>
                      <a:r>
                        <a:rPr sz="1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 integrated</a:t>
                      </a:r>
                      <a:r>
                        <a:rPr sz="10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testing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Documentation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6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Progress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Report</a:t>
                      </a:r>
                      <a:r>
                        <a:rPr sz="10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technical</a:t>
                      </a:r>
                      <a:r>
                        <a:rPr sz="1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documentation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5" name="object 5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15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7011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Testing</a:t>
            </a:r>
            <a:r>
              <a:rPr spc="-65" dirty="0"/>
              <a:t> </a:t>
            </a:r>
            <a:r>
              <a:rPr spc="-30" dirty="0"/>
              <a:t>and</a:t>
            </a:r>
            <a:r>
              <a:rPr spc="-65" dirty="0"/>
              <a:t> </a:t>
            </a:r>
            <a:r>
              <a:rPr spc="-10" dirty="0"/>
              <a:t>Validation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51993" y="412521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5212" y="428268"/>
            <a:ext cx="1481251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2460" algn="l"/>
              </a:tabLst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ID	Test Scenario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53474" y="428268"/>
            <a:ext cx="867626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Expected Result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71800" y="428268"/>
            <a:ext cx="434384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Status</a:t>
            </a:r>
          </a:p>
        </p:txBody>
      </p:sp>
      <p:sp>
        <p:nvSpPr>
          <p:cNvPr id="7" name="object 7"/>
          <p:cNvSpPr/>
          <p:nvPr/>
        </p:nvSpPr>
        <p:spPr>
          <a:xfrm>
            <a:off x="251993" y="606323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5213" y="620012"/>
            <a:ext cx="311150" cy="1228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TC-</a:t>
            </a:r>
            <a:r>
              <a:rPr sz="800" spc="-25" dirty="0">
                <a:latin typeface="Arial"/>
                <a:cs typeface="Arial"/>
              </a:rPr>
              <a:t>01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97200"/>
              </a:lnSpc>
            </a:pPr>
            <a:r>
              <a:rPr sz="800" dirty="0">
                <a:latin typeface="Arial"/>
                <a:cs typeface="Arial"/>
              </a:rPr>
              <a:t>TC-</a:t>
            </a:r>
            <a:r>
              <a:rPr sz="800" spc="-25" dirty="0">
                <a:latin typeface="Arial"/>
                <a:cs typeface="Arial"/>
              </a:rPr>
              <a:t>02</a:t>
            </a:r>
            <a:r>
              <a:rPr sz="800" dirty="0">
                <a:latin typeface="Arial"/>
                <a:cs typeface="Arial"/>
              </a:rPr>
              <a:t> TC-</a:t>
            </a:r>
            <a:r>
              <a:rPr sz="800" spc="-25" dirty="0">
                <a:latin typeface="Arial"/>
                <a:cs typeface="Arial"/>
              </a:rPr>
              <a:t>03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5"/>
              </a:spcBef>
            </a:pPr>
            <a:r>
              <a:rPr sz="800" dirty="0">
                <a:latin typeface="Arial"/>
                <a:cs typeface="Arial"/>
              </a:rPr>
              <a:t>TC-</a:t>
            </a:r>
            <a:r>
              <a:rPr sz="800" spc="-25" dirty="0">
                <a:latin typeface="Arial"/>
                <a:cs typeface="Arial"/>
              </a:rPr>
              <a:t>04</a:t>
            </a:r>
            <a:r>
              <a:rPr sz="800" dirty="0">
                <a:latin typeface="Arial"/>
                <a:cs typeface="Arial"/>
              </a:rPr>
              <a:t> TC-</a:t>
            </a:r>
            <a:r>
              <a:rPr sz="800" spc="-25" dirty="0">
                <a:latin typeface="Arial"/>
                <a:cs typeface="Arial"/>
              </a:rPr>
              <a:t>05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800" dirty="0">
                <a:latin typeface="Arial"/>
                <a:cs typeface="Arial"/>
              </a:rPr>
              <a:t>TC-</a:t>
            </a:r>
            <a:r>
              <a:rPr sz="800" spc="-25" dirty="0">
                <a:latin typeface="Arial"/>
                <a:cs typeface="Arial"/>
              </a:rPr>
              <a:t>06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5137" y="620012"/>
            <a:ext cx="1357630" cy="1228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Progressive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Lead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Masking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97200"/>
              </a:lnSpc>
            </a:pPr>
            <a:r>
              <a:rPr sz="800" spc="-25" dirty="0">
                <a:latin typeface="Arial"/>
                <a:cs typeface="Arial"/>
              </a:rPr>
              <a:t>ECG-</a:t>
            </a:r>
            <a:r>
              <a:rPr sz="800" dirty="0">
                <a:latin typeface="Arial"/>
                <a:cs typeface="Arial"/>
              </a:rPr>
              <a:t>only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vs.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CKP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Reasoning</a:t>
            </a:r>
            <a:r>
              <a:rPr sz="800" spc="-10" dirty="0">
                <a:latin typeface="Arial"/>
                <a:cs typeface="Arial"/>
              </a:rPr>
              <a:t> Grounding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Verification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Arial"/>
              <a:cs typeface="Arial"/>
            </a:endParaRPr>
          </a:p>
          <a:p>
            <a:pPr marL="12700" marR="81280">
              <a:lnSpc>
                <a:spcPts val="950"/>
              </a:lnSpc>
              <a:spcBef>
                <a:spcPts val="5"/>
              </a:spcBef>
            </a:pPr>
            <a:r>
              <a:rPr sz="800" dirty="0">
                <a:latin typeface="Arial"/>
                <a:cs typeface="Arial"/>
              </a:rPr>
              <a:t>CKP</a:t>
            </a:r>
            <a:r>
              <a:rPr sz="800" spc="5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Relevance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Control </a:t>
            </a:r>
            <a:r>
              <a:rPr sz="800" spc="-30" dirty="0">
                <a:latin typeface="Arial"/>
                <a:cs typeface="Arial"/>
              </a:rPr>
              <a:t>Reasoning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Failure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Boundary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800" spc="-10" dirty="0">
                <a:latin typeface="Arial"/>
                <a:cs typeface="Arial"/>
              </a:rPr>
              <a:t>Degradation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Analysis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2856" y="620012"/>
            <a:ext cx="1793239" cy="1349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35" dirty="0">
                <a:latin typeface="Arial"/>
                <a:cs typeface="Arial"/>
              </a:rPr>
              <a:t>Generates</a:t>
            </a:r>
            <a:r>
              <a:rPr sz="800" spc="75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12–</a:t>
            </a:r>
            <a:r>
              <a:rPr sz="800" dirty="0">
                <a:latin typeface="Arial"/>
                <a:cs typeface="Arial"/>
              </a:rPr>
              <a:t>1 </a:t>
            </a:r>
            <a:r>
              <a:rPr sz="800" spc="-10" dirty="0">
                <a:latin typeface="Arial"/>
                <a:cs typeface="Arial"/>
              </a:rPr>
              <a:t>lead </a:t>
            </a:r>
            <a:r>
              <a:rPr sz="800" dirty="0">
                <a:latin typeface="Arial"/>
                <a:cs typeface="Arial"/>
              </a:rPr>
              <a:t>inputs without </a:t>
            </a:r>
            <a:r>
              <a:rPr sz="800" spc="-25" dirty="0">
                <a:latin typeface="Arial"/>
                <a:cs typeface="Arial"/>
              </a:rPr>
              <a:t>re-</a:t>
            </a:r>
            <a:r>
              <a:rPr sz="800" spc="-10" dirty="0">
                <a:latin typeface="Arial"/>
                <a:cs typeface="Arial"/>
              </a:rPr>
              <a:t>construction.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5"/>
              </a:lnSpc>
            </a:pPr>
            <a:r>
              <a:rPr sz="800" spc="-25" dirty="0">
                <a:latin typeface="Arial"/>
                <a:cs typeface="Arial"/>
              </a:rPr>
              <a:t>Compares</a:t>
            </a:r>
            <a:r>
              <a:rPr sz="800" spc="1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both</a:t>
            </a:r>
            <a:r>
              <a:rPr sz="800" spc="1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paths</a:t>
            </a:r>
            <a:r>
              <a:rPr sz="800" spc="1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under</a:t>
            </a:r>
            <a:r>
              <a:rPr sz="800" spc="1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1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same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sz="800" spc="-10" dirty="0">
                <a:latin typeface="Arial"/>
                <a:cs typeface="Arial"/>
              </a:rPr>
              <a:t>masking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levels.</a:t>
            </a:r>
            <a:endParaRPr sz="800">
              <a:latin typeface="Arial"/>
              <a:cs typeface="Arial"/>
            </a:endParaRPr>
          </a:p>
          <a:p>
            <a:pPr marL="12700" marR="5715" indent="-635">
              <a:lnSpc>
                <a:spcPts val="950"/>
              </a:lnSpc>
              <a:spcBef>
                <a:spcPts val="35"/>
              </a:spcBef>
            </a:pPr>
            <a:r>
              <a:rPr sz="800" spc="-10" dirty="0">
                <a:latin typeface="Arial"/>
                <a:cs typeface="Arial"/>
              </a:rPr>
              <a:t>Verifies </a:t>
            </a:r>
            <a:r>
              <a:rPr sz="800" dirty="0">
                <a:latin typeface="Arial"/>
                <a:cs typeface="Arial"/>
              </a:rPr>
              <a:t>claims using </a:t>
            </a:r>
            <a:r>
              <a:rPr sz="800" spc="-10" dirty="0">
                <a:latin typeface="Arial"/>
                <a:cs typeface="Arial"/>
              </a:rPr>
              <a:t>available </a:t>
            </a:r>
            <a:r>
              <a:rPr sz="800" dirty="0">
                <a:latin typeface="Arial"/>
                <a:cs typeface="Arial"/>
              </a:rPr>
              <a:t>or </a:t>
            </a:r>
            <a:r>
              <a:rPr sz="800" spc="-10" dirty="0">
                <a:latin typeface="Arial"/>
                <a:cs typeface="Arial"/>
              </a:rPr>
              <a:t>deriv-able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ECG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evidence.</a:t>
            </a:r>
            <a:endParaRPr sz="800">
              <a:latin typeface="Arial"/>
              <a:cs typeface="Arial"/>
            </a:endParaRPr>
          </a:p>
          <a:p>
            <a:pPr marL="13335">
              <a:lnSpc>
                <a:spcPts val="905"/>
              </a:lnSpc>
            </a:pPr>
            <a:r>
              <a:rPr sz="800" spc="-30" dirty="0">
                <a:latin typeface="Arial"/>
                <a:cs typeface="Arial"/>
              </a:rPr>
              <a:t>Compares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relevant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irrelevant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CKP.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Arial"/>
                <a:cs typeface="Arial"/>
              </a:rPr>
              <a:t>Identifies</a:t>
            </a:r>
            <a:r>
              <a:rPr sz="800" spc="10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10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unreliable</a:t>
            </a:r>
            <a:r>
              <a:rPr sz="800" spc="10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reasoning</a:t>
            </a:r>
            <a:r>
              <a:rPr sz="800" spc="10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lead</a:t>
            </a:r>
            <a:r>
              <a:rPr sz="800" spc="-10" dirty="0">
                <a:latin typeface="Arial"/>
                <a:cs typeface="Arial"/>
              </a:rPr>
              <a:t> level.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5"/>
              </a:lnSpc>
            </a:pPr>
            <a:r>
              <a:rPr sz="800" spc="-10" dirty="0">
                <a:latin typeface="Arial"/>
                <a:cs typeface="Arial"/>
              </a:rPr>
              <a:t>Computes</a:t>
            </a:r>
            <a:r>
              <a:rPr sz="800" spc="114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114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degradation</a:t>
            </a:r>
            <a:r>
              <a:rPr sz="800" spc="1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curve,</a:t>
            </a:r>
            <a:r>
              <a:rPr sz="800" spc="14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AU-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latin typeface="Arial"/>
                <a:cs typeface="Arial"/>
              </a:rPr>
              <a:t>RDC, and </a:t>
            </a:r>
            <a:r>
              <a:rPr sz="800" spc="-20" dirty="0">
                <a:latin typeface="Arial"/>
                <a:cs typeface="Arial"/>
              </a:rPr>
              <a:t>RFB.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1390" y="620012"/>
            <a:ext cx="386080" cy="1228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"/>
                <a:cs typeface="Arial"/>
              </a:rPr>
              <a:t>Planned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97200"/>
              </a:lnSpc>
            </a:pPr>
            <a:r>
              <a:rPr sz="800" spc="-30" dirty="0">
                <a:latin typeface="Arial"/>
                <a:cs typeface="Arial"/>
              </a:rPr>
              <a:t>Planned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Planned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5"/>
              </a:spcBef>
            </a:pPr>
            <a:r>
              <a:rPr sz="800" spc="-30" dirty="0">
                <a:latin typeface="Arial"/>
                <a:cs typeface="Arial"/>
              </a:rPr>
              <a:t>Planned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Planned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800" spc="-20" dirty="0">
                <a:latin typeface="Arial"/>
                <a:cs typeface="Arial"/>
              </a:rPr>
              <a:t>Planned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1993" y="2002116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1192" y="2085542"/>
            <a:ext cx="5358130" cy="187960"/>
          </a:xfrm>
          <a:custGeom>
            <a:avLst/>
            <a:gdLst/>
            <a:ahLst/>
            <a:cxnLst/>
            <a:rect l="l" t="t" r="r" b="b"/>
            <a:pathLst>
              <a:path w="5358130" h="187960">
                <a:moveTo>
                  <a:pt x="530687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357673" y="187819"/>
                </a:lnTo>
                <a:lnTo>
                  <a:pt x="5357673" y="50800"/>
                </a:lnTo>
                <a:lnTo>
                  <a:pt x="5353664" y="31075"/>
                </a:lnTo>
                <a:lnTo>
                  <a:pt x="5342750" y="14922"/>
                </a:lnTo>
                <a:lnTo>
                  <a:pt x="5326598" y="4008"/>
                </a:lnTo>
                <a:lnTo>
                  <a:pt x="530687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1993" y="2053865"/>
            <a:ext cx="115189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Validation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1192" y="2260714"/>
            <a:ext cx="5358130" cy="735788"/>
            <a:chOff x="201192" y="2260714"/>
            <a:chExt cx="5358130" cy="735788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92" y="2260714"/>
              <a:ext cx="5357672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1192" y="2304987"/>
              <a:ext cx="5358130" cy="691515"/>
            </a:xfrm>
            <a:custGeom>
              <a:avLst/>
              <a:gdLst/>
              <a:ahLst/>
              <a:cxnLst/>
              <a:rect l="l" t="t" r="r" b="b"/>
              <a:pathLst>
                <a:path w="5358130" h="691514">
                  <a:moveTo>
                    <a:pt x="5357673" y="0"/>
                  </a:moveTo>
                  <a:lnTo>
                    <a:pt x="0" y="0"/>
                  </a:lnTo>
                  <a:lnTo>
                    <a:pt x="0" y="640320"/>
                  </a:lnTo>
                  <a:lnTo>
                    <a:pt x="4008" y="660044"/>
                  </a:lnTo>
                  <a:lnTo>
                    <a:pt x="14922" y="676197"/>
                  </a:lnTo>
                  <a:lnTo>
                    <a:pt x="31075" y="687111"/>
                  </a:lnTo>
                  <a:lnTo>
                    <a:pt x="50800" y="691120"/>
                  </a:lnTo>
                  <a:lnTo>
                    <a:pt x="5306873" y="691120"/>
                  </a:lnTo>
                  <a:lnTo>
                    <a:pt x="5326598" y="687111"/>
                  </a:lnTo>
                  <a:lnTo>
                    <a:pt x="5342750" y="676197"/>
                  </a:lnTo>
                  <a:lnTo>
                    <a:pt x="5353664" y="660044"/>
                  </a:lnTo>
                  <a:lnTo>
                    <a:pt x="5357673" y="640320"/>
                  </a:lnTo>
                  <a:lnTo>
                    <a:pt x="5357673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39292" y="2230996"/>
            <a:ext cx="5319571" cy="703654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Component Validation: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</a:t>
            </a:r>
            <a:r>
              <a:rPr sz="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produces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outputs</a:t>
            </a:r>
            <a:r>
              <a:rPr sz="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matching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</a:t>
            </a:r>
            <a:r>
              <a:rPr sz="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defined</a:t>
            </a:r>
            <a:r>
              <a:rPr sz="8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input–output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criteria.</a:t>
            </a:r>
            <a:endParaRPr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ct val="145300"/>
              </a:lnSpc>
            </a:pP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 Testing: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ECG-to-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grounding</a:t>
            </a:r>
            <a:r>
              <a:rPr sz="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pipeline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executes</a:t>
            </a:r>
            <a:r>
              <a:rPr sz="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correctly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without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data-flow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errors.</a:t>
            </a:r>
            <a:r>
              <a:rPr sz="800" spc="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Statistical Validation: </a:t>
            </a:r>
            <a:r>
              <a:rPr sz="80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CKP-</a:t>
            </a:r>
            <a:r>
              <a:rPr sz="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assisted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sz="8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significantly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compared</a:t>
            </a:r>
            <a:r>
              <a:rPr sz="8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ECG-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across</a:t>
            </a:r>
            <a:r>
              <a:rPr sz="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masking</a:t>
            </a:r>
            <a:r>
              <a:rPr sz="8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levels. </a:t>
            </a:r>
            <a:r>
              <a:rPr sz="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Cross-Dataset Validation: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8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framework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maintains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consistent</a:t>
            </a:r>
            <a:r>
              <a:rPr sz="8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</a:t>
            </a:r>
            <a:r>
              <a:rPr sz="8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trends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across</a:t>
            </a:r>
            <a:r>
              <a:rPr sz="8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independent</a:t>
            </a:r>
            <a:r>
              <a:rPr sz="8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ECG</a:t>
            </a:r>
            <a:r>
              <a:rPr sz="8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datasets.</a:t>
            </a:r>
            <a:endParaRPr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21" name="object 21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16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2566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Project</a:t>
            </a:r>
            <a:r>
              <a:rPr spc="-65" dirty="0"/>
              <a:t> </a:t>
            </a:r>
            <a:r>
              <a:rPr spc="-10" dirty="0"/>
              <a:t>Timeline</a:t>
            </a:r>
          </a:p>
        </p:txBody>
      </p:sp>
      <p:sp>
        <p:nvSpPr>
          <p:cNvPr id="3" name="object 3"/>
          <p:cNvSpPr/>
          <p:nvPr/>
        </p:nvSpPr>
        <p:spPr>
          <a:xfrm>
            <a:off x="251993" y="558799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5213" y="574546"/>
            <a:ext cx="3778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75" dirty="0">
                <a:latin typeface="Arial Black"/>
                <a:cs typeface="Arial Black"/>
              </a:rPr>
              <a:t>Activity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1440" y="574546"/>
            <a:ext cx="35210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310" algn="l"/>
                <a:tab pos="658495" algn="l"/>
                <a:tab pos="989965" algn="l"/>
                <a:tab pos="1316990" algn="l"/>
                <a:tab pos="1649095" algn="l"/>
                <a:tab pos="1989455" algn="l"/>
                <a:tab pos="2319020" algn="l"/>
                <a:tab pos="2644140" algn="l"/>
                <a:tab pos="2982595" algn="l"/>
                <a:tab pos="3307715" algn="l"/>
              </a:tabLst>
            </a:pPr>
            <a:r>
              <a:rPr sz="800" spc="-25" dirty="0">
                <a:latin typeface="Arial Black"/>
                <a:cs typeface="Arial Black"/>
              </a:rPr>
              <a:t>Jul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Aug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Sep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Oct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Nov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Dec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Jan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Feb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Mar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25" dirty="0">
                <a:latin typeface="Arial Black"/>
                <a:cs typeface="Arial Black"/>
              </a:rPr>
              <a:t>Apr</a:t>
            </a:r>
            <a:r>
              <a:rPr sz="800" dirty="0">
                <a:latin typeface="Arial Black"/>
                <a:cs typeface="Arial Black"/>
              </a:rPr>
              <a:t>	</a:t>
            </a:r>
            <a:r>
              <a:rPr sz="800" spc="-55" dirty="0">
                <a:latin typeface="Arial Black"/>
                <a:cs typeface="Arial Black"/>
              </a:rPr>
              <a:t>May</a:t>
            </a:r>
            <a:endParaRPr sz="8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8500" y="749109"/>
            <a:ext cx="5263515" cy="1729739"/>
            <a:chOff x="248500" y="749109"/>
            <a:chExt cx="5263515" cy="1729739"/>
          </a:xfrm>
        </p:grpSpPr>
        <p:sp>
          <p:nvSpPr>
            <p:cNvPr id="7" name="object 7"/>
            <p:cNvSpPr/>
            <p:nvPr/>
          </p:nvSpPr>
          <p:spPr>
            <a:xfrm>
              <a:off x="251993" y="752601"/>
              <a:ext cx="5256530" cy="0"/>
            </a:xfrm>
            <a:custGeom>
              <a:avLst/>
              <a:gdLst/>
              <a:ahLst/>
              <a:cxnLst/>
              <a:rect l="l" t="t" r="r" b="b"/>
              <a:pathLst>
                <a:path w="5256530">
                  <a:moveTo>
                    <a:pt x="0" y="0"/>
                  </a:moveTo>
                  <a:lnTo>
                    <a:pt x="5255996" y="0"/>
                  </a:lnTo>
                </a:path>
              </a:pathLst>
            </a:custGeom>
            <a:ln w="6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6032" y="796073"/>
              <a:ext cx="3650615" cy="1683385"/>
            </a:xfrm>
            <a:custGeom>
              <a:avLst/>
              <a:gdLst/>
              <a:ahLst/>
              <a:cxnLst/>
              <a:rect l="l" t="t" r="r" b="b"/>
              <a:pathLst>
                <a:path w="3650615" h="1683385">
                  <a:moveTo>
                    <a:pt x="331825" y="0"/>
                  </a:moveTo>
                  <a:lnTo>
                    <a:pt x="0" y="0"/>
                  </a:lnTo>
                  <a:lnTo>
                    <a:pt x="0" y="120192"/>
                  </a:lnTo>
                  <a:lnTo>
                    <a:pt x="331825" y="120192"/>
                  </a:lnTo>
                  <a:lnTo>
                    <a:pt x="331825" y="0"/>
                  </a:lnTo>
                  <a:close/>
                </a:path>
                <a:path w="3650615" h="1683385">
                  <a:moveTo>
                    <a:pt x="1327315" y="120192"/>
                  </a:moveTo>
                  <a:lnTo>
                    <a:pt x="995489" y="120192"/>
                  </a:lnTo>
                  <a:lnTo>
                    <a:pt x="663663" y="120192"/>
                  </a:lnTo>
                  <a:lnTo>
                    <a:pt x="663663" y="0"/>
                  </a:lnTo>
                  <a:lnTo>
                    <a:pt x="331838" y="0"/>
                  </a:lnTo>
                  <a:lnTo>
                    <a:pt x="331838" y="120192"/>
                  </a:lnTo>
                  <a:lnTo>
                    <a:pt x="331838" y="360591"/>
                  </a:lnTo>
                  <a:lnTo>
                    <a:pt x="663663" y="360591"/>
                  </a:lnTo>
                  <a:lnTo>
                    <a:pt x="995489" y="360591"/>
                  </a:lnTo>
                  <a:lnTo>
                    <a:pt x="995489" y="480783"/>
                  </a:lnTo>
                  <a:lnTo>
                    <a:pt x="663663" y="480783"/>
                  </a:lnTo>
                  <a:lnTo>
                    <a:pt x="663663" y="721182"/>
                  </a:lnTo>
                  <a:lnTo>
                    <a:pt x="663663" y="961580"/>
                  </a:lnTo>
                  <a:lnTo>
                    <a:pt x="995489" y="961580"/>
                  </a:lnTo>
                  <a:lnTo>
                    <a:pt x="1327315" y="961580"/>
                  </a:lnTo>
                  <a:lnTo>
                    <a:pt x="1327315" y="721182"/>
                  </a:lnTo>
                  <a:lnTo>
                    <a:pt x="1327315" y="480783"/>
                  </a:lnTo>
                  <a:lnTo>
                    <a:pt x="1327315" y="360591"/>
                  </a:lnTo>
                  <a:lnTo>
                    <a:pt x="1327315" y="120192"/>
                  </a:lnTo>
                  <a:close/>
                </a:path>
                <a:path w="3650615" h="1683385">
                  <a:moveTo>
                    <a:pt x="1990979" y="480783"/>
                  </a:moveTo>
                  <a:lnTo>
                    <a:pt x="1659153" y="480783"/>
                  </a:lnTo>
                  <a:lnTo>
                    <a:pt x="1659153" y="360591"/>
                  </a:lnTo>
                  <a:lnTo>
                    <a:pt x="1327327" y="360591"/>
                  </a:lnTo>
                  <a:lnTo>
                    <a:pt x="1327327" y="480783"/>
                  </a:lnTo>
                  <a:lnTo>
                    <a:pt x="1327327" y="721182"/>
                  </a:lnTo>
                  <a:lnTo>
                    <a:pt x="1327327" y="961580"/>
                  </a:lnTo>
                  <a:lnTo>
                    <a:pt x="1327327" y="1201978"/>
                  </a:lnTo>
                  <a:lnTo>
                    <a:pt x="1659153" y="1201978"/>
                  </a:lnTo>
                  <a:lnTo>
                    <a:pt x="1659153" y="1442377"/>
                  </a:lnTo>
                  <a:lnTo>
                    <a:pt x="1990979" y="1442377"/>
                  </a:lnTo>
                  <a:lnTo>
                    <a:pt x="1990979" y="1201978"/>
                  </a:lnTo>
                  <a:lnTo>
                    <a:pt x="1990979" y="961580"/>
                  </a:lnTo>
                  <a:lnTo>
                    <a:pt x="1990979" y="721182"/>
                  </a:lnTo>
                  <a:lnTo>
                    <a:pt x="1990979" y="480783"/>
                  </a:lnTo>
                  <a:close/>
                </a:path>
                <a:path w="3650615" h="1683385">
                  <a:moveTo>
                    <a:pt x="2986468" y="1442389"/>
                  </a:moveTo>
                  <a:lnTo>
                    <a:pt x="2654643" y="1442389"/>
                  </a:lnTo>
                  <a:lnTo>
                    <a:pt x="2322817" y="1442389"/>
                  </a:lnTo>
                  <a:lnTo>
                    <a:pt x="2322817" y="1562582"/>
                  </a:lnTo>
                  <a:lnTo>
                    <a:pt x="2322817" y="1682775"/>
                  </a:lnTo>
                  <a:lnTo>
                    <a:pt x="2654643" y="1682775"/>
                  </a:lnTo>
                  <a:lnTo>
                    <a:pt x="2986468" y="1682775"/>
                  </a:lnTo>
                  <a:lnTo>
                    <a:pt x="2986468" y="1562582"/>
                  </a:lnTo>
                  <a:lnTo>
                    <a:pt x="2986468" y="1442389"/>
                  </a:lnTo>
                  <a:close/>
                </a:path>
                <a:path w="3650615" h="1683385">
                  <a:moveTo>
                    <a:pt x="2986468" y="1201978"/>
                  </a:moveTo>
                  <a:lnTo>
                    <a:pt x="2654643" y="1201978"/>
                  </a:lnTo>
                  <a:lnTo>
                    <a:pt x="2654643" y="961580"/>
                  </a:lnTo>
                  <a:lnTo>
                    <a:pt x="2654643" y="721182"/>
                  </a:lnTo>
                  <a:lnTo>
                    <a:pt x="2322817" y="721182"/>
                  </a:lnTo>
                  <a:lnTo>
                    <a:pt x="1990991" y="721182"/>
                  </a:lnTo>
                  <a:lnTo>
                    <a:pt x="1990991" y="961580"/>
                  </a:lnTo>
                  <a:lnTo>
                    <a:pt x="1990991" y="1201978"/>
                  </a:lnTo>
                  <a:lnTo>
                    <a:pt x="1990991" y="1442377"/>
                  </a:lnTo>
                  <a:lnTo>
                    <a:pt x="2322817" y="1442377"/>
                  </a:lnTo>
                  <a:lnTo>
                    <a:pt x="2654643" y="1442377"/>
                  </a:lnTo>
                  <a:lnTo>
                    <a:pt x="2986468" y="1442377"/>
                  </a:lnTo>
                  <a:lnTo>
                    <a:pt x="2986468" y="1201978"/>
                  </a:lnTo>
                  <a:close/>
                </a:path>
                <a:path w="3650615" h="1683385">
                  <a:moveTo>
                    <a:pt x="3650132" y="1562582"/>
                  </a:moveTo>
                  <a:lnTo>
                    <a:pt x="3318306" y="1562582"/>
                  </a:lnTo>
                  <a:lnTo>
                    <a:pt x="2986481" y="1562582"/>
                  </a:lnTo>
                  <a:lnTo>
                    <a:pt x="2986481" y="1682775"/>
                  </a:lnTo>
                  <a:lnTo>
                    <a:pt x="3318306" y="1682775"/>
                  </a:lnTo>
                  <a:lnTo>
                    <a:pt x="3650132" y="1682775"/>
                  </a:lnTo>
                  <a:lnTo>
                    <a:pt x="3650132" y="1562582"/>
                  </a:lnTo>
                  <a:close/>
                </a:path>
              </a:pathLst>
            </a:custGeom>
            <a:solidFill>
              <a:srgbClr val="B0D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5213" y="766291"/>
            <a:ext cx="1148715" cy="1830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715" algn="just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Literature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review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(VMS) </a:t>
            </a:r>
            <a:r>
              <a:rPr sz="800" dirty="0">
                <a:latin typeface="Arial"/>
                <a:cs typeface="Arial"/>
              </a:rPr>
              <a:t>Dataset</a:t>
            </a:r>
            <a:r>
              <a:rPr sz="800" spc="375" dirty="0">
                <a:latin typeface="Arial"/>
                <a:cs typeface="Arial"/>
              </a:rPr>
              <a:t>  </a:t>
            </a:r>
            <a:r>
              <a:rPr sz="800" spc="-30" dirty="0">
                <a:latin typeface="Arial"/>
                <a:cs typeface="Arial"/>
              </a:rPr>
              <a:t>Preprocessing</a:t>
            </a:r>
            <a:r>
              <a:rPr sz="800" spc="-10" dirty="0">
                <a:latin typeface="Arial"/>
                <a:cs typeface="Arial"/>
              </a:rPr>
              <a:t> (SCS)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5"/>
              </a:lnSpc>
            </a:pPr>
            <a:r>
              <a:rPr sz="800" dirty="0">
                <a:latin typeface="Arial"/>
                <a:cs typeface="Arial"/>
              </a:rPr>
              <a:t>CKP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construction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(VMS)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Arial"/>
                <a:cs typeface="Arial"/>
              </a:rPr>
              <a:t>ECG</a:t>
            </a:r>
            <a:r>
              <a:rPr sz="800" spc="2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Pipeline</a:t>
            </a:r>
            <a:r>
              <a:rPr sz="800" spc="225" dirty="0">
                <a:latin typeface="Arial"/>
                <a:cs typeface="Arial"/>
              </a:rPr>
              <a:t> </a:t>
            </a:r>
            <a:r>
              <a:rPr sz="800" spc="100" dirty="0">
                <a:latin typeface="Arial"/>
                <a:cs typeface="Arial"/>
              </a:rPr>
              <a:t>&amp;</a:t>
            </a:r>
            <a:r>
              <a:rPr sz="800" spc="229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Model </a:t>
            </a:r>
            <a:r>
              <a:rPr sz="800" dirty="0">
                <a:latin typeface="Arial"/>
                <a:cs typeface="Arial"/>
              </a:rPr>
              <a:t>Adaptation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(SCS) </a:t>
            </a:r>
            <a:r>
              <a:rPr sz="800" spc="-25" dirty="0">
                <a:latin typeface="Arial"/>
                <a:cs typeface="Arial"/>
              </a:rPr>
              <a:t>Reasoning</a:t>
            </a:r>
            <a:r>
              <a:rPr sz="800" spc="215" dirty="0">
                <a:latin typeface="Arial"/>
                <a:cs typeface="Arial"/>
              </a:rPr>
              <a:t> </a:t>
            </a:r>
            <a:r>
              <a:rPr sz="800" spc="100" dirty="0">
                <a:latin typeface="Arial"/>
                <a:cs typeface="Arial"/>
              </a:rPr>
              <a:t>&amp;</a:t>
            </a:r>
            <a:r>
              <a:rPr sz="800" spc="22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Grounding Design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30" dirty="0">
                <a:latin typeface="Arial"/>
                <a:cs typeface="Arial"/>
              </a:rPr>
              <a:t>(VK)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0"/>
              </a:lnSpc>
            </a:pPr>
            <a:r>
              <a:rPr sz="800" dirty="0">
                <a:latin typeface="Arial"/>
                <a:cs typeface="Arial"/>
              </a:rPr>
              <a:t>Metrics</a:t>
            </a:r>
            <a:r>
              <a:rPr sz="800" spc="250" dirty="0">
                <a:latin typeface="Arial"/>
                <a:cs typeface="Arial"/>
              </a:rPr>
              <a:t>  </a:t>
            </a:r>
            <a:r>
              <a:rPr sz="800" spc="100" dirty="0">
                <a:latin typeface="Arial"/>
                <a:cs typeface="Arial"/>
              </a:rPr>
              <a:t>&amp;</a:t>
            </a:r>
            <a:r>
              <a:rPr sz="800" spc="250" dirty="0">
                <a:latin typeface="Arial"/>
                <a:cs typeface="Arial"/>
              </a:rPr>
              <a:t>  </a:t>
            </a:r>
            <a:r>
              <a:rPr sz="800" spc="-10" dirty="0">
                <a:latin typeface="Arial"/>
                <a:cs typeface="Arial"/>
              </a:rPr>
              <a:t>Evaluation</a:t>
            </a:r>
            <a:endParaRPr sz="800">
              <a:latin typeface="Arial"/>
              <a:cs typeface="Arial"/>
            </a:endParaRPr>
          </a:p>
          <a:p>
            <a:pPr marL="12700" algn="just">
              <a:lnSpc>
                <a:spcPts val="944"/>
              </a:lnSpc>
            </a:pPr>
            <a:r>
              <a:rPr sz="800" spc="-10" dirty="0">
                <a:latin typeface="Arial"/>
                <a:cs typeface="Arial"/>
              </a:rPr>
              <a:t>Setup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30" dirty="0">
                <a:latin typeface="Arial"/>
                <a:cs typeface="Arial"/>
              </a:rPr>
              <a:t>(VK)</a:t>
            </a:r>
            <a:endParaRPr sz="800">
              <a:latin typeface="Arial"/>
              <a:cs typeface="Arial"/>
            </a:endParaRPr>
          </a:p>
          <a:p>
            <a:pPr marL="12700" marR="5715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Arial"/>
                <a:cs typeface="Arial"/>
              </a:rPr>
              <a:t>Integrated</a:t>
            </a:r>
            <a:r>
              <a:rPr sz="800" spc="175" dirty="0">
                <a:latin typeface="Arial"/>
                <a:cs typeface="Arial"/>
              </a:rPr>
              <a:t>  </a:t>
            </a:r>
            <a:r>
              <a:rPr sz="800" dirty="0">
                <a:latin typeface="Arial"/>
                <a:cs typeface="Arial"/>
              </a:rPr>
              <a:t>Pipeline</a:t>
            </a:r>
            <a:r>
              <a:rPr sz="800" spc="175" dirty="0">
                <a:latin typeface="Arial"/>
                <a:cs typeface="Arial"/>
              </a:rPr>
              <a:t>  </a:t>
            </a:r>
            <a:r>
              <a:rPr sz="800" spc="50" dirty="0">
                <a:latin typeface="Arial"/>
                <a:cs typeface="Arial"/>
              </a:rPr>
              <a:t>&amp; </a:t>
            </a:r>
            <a:r>
              <a:rPr sz="800" spc="-10" dirty="0">
                <a:latin typeface="Arial"/>
                <a:cs typeface="Arial"/>
              </a:rPr>
              <a:t>Debugging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5"/>
              </a:lnSpc>
            </a:pPr>
            <a:r>
              <a:rPr sz="800" spc="-10" dirty="0">
                <a:latin typeface="Arial"/>
                <a:cs typeface="Arial"/>
              </a:rPr>
              <a:t>Validation</a:t>
            </a:r>
            <a:endParaRPr sz="800">
              <a:latin typeface="Arial"/>
              <a:cs typeface="Arial"/>
            </a:endParaRPr>
          </a:p>
          <a:p>
            <a:pPr marL="12700" marR="436880">
              <a:lnSpc>
                <a:spcPts val="950"/>
              </a:lnSpc>
              <a:spcBef>
                <a:spcPts val="35"/>
              </a:spcBef>
            </a:pPr>
            <a:r>
              <a:rPr sz="800" spc="-10" dirty="0">
                <a:latin typeface="Arial"/>
                <a:cs typeface="Arial"/>
              </a:rPr>
              <a:t>Testing Documentation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1993" y="2478862"/>
            <a:ext cx="5256530" cy="156210"/>
            <a:chOff x="251993" y="2478862"/>
            <a:chExt cx="5256530" cy="156210"/>
          </a:xfrm>
        </p:grpSpPr>
        <p:sp>
          <p:nvSpPr>
            <p:cNvPr id="11" name="object 11"/>
            <p:cNvSpPr/>
            <p:nvPr/>
          </p:nvSpPr>
          <p:spPr>
            <a:xfrm>
              <a:off x="1526032" y="2478862"/>
              <a:ext cx="3650615" cy="120650"/>
            </a:xfrm>
            <a:custGeom>
              <a:avLst/>
              <a:gdLst/>
              <a:ahLst/>
              <a:cxnLst/>
              <a:rect l="l" t="t" r="r" b="b"/>
              <a:pathLst>
                <a:path w="3650615" h="120650">
                  <a:moveTo>
                    <a:pt x="331825" y="0"/>
                  </a:moveTo>
                  <a:lnTo>
                    <a:pt x="0" y="0"/>
                  </a:lnTo>
                  <a:lnTo>
                    <a:pt x="0" y="120192"/>
                  </a:lnTo>
                  <a:lnTo>
                    <a:pt x="331825" y="120192"/>
                  </a:lnTo>
                  <a:lnTo>
                    <a:pt x="331825" y="0"/>
                  </a:lnTo>
                  <a:close/>
                </a:path>
                <a:path w="3650615" h="120650">
                  <a:moveTo>
                    <a:pt x="1327315" y="0"/>
                  </a:moveTo>
                  <a:lnTo>
                    <a:pt x="995489" y="0"/>
                  </a:lnTo>
                  <a:lnTo>
                    <a:pt x="663663" y="0"/>
                  </a:lnTo>
                  <a:lnTo>
                    <a:pt x="331838" y="0"/>
                  </a:lnTo>
                  <a:lnTo>
                    <a:pt x="331838" y="120192"/>
                  </a:lnTo>
                  <a:lnTo>
                    <a:pt x="663663" y="120192"/>
                  </a:lnTo>
                  <a:lnTo>
                    <a:pt x="995489" y="120192"/>
                  </a:lnTo>
                  <a:lnTo>
                    <a:pt x="1327315" y="120192"/>
                  </a:lnTo>
                  <a:lnTo>
                    <a:pt x="1327315" y="0"/>
                  </a:lnTo>
                  <a:close/>
                </a:path>
                <a:path w="3650615" h="120650">
                  <a:moveTo>
                    <a:pt x="1990979" y="0"/>
                  </a:moveTo>
                  <a:lnTo>
                    <a:pt x="1659153" y="0"/>
                  </a:lnTo>
                  <a:lnTo>
                    <a:pt x="1327327" y="0"/>
                  </a:lnTo>
                  <a:lnTo>
                    <a:pt x="1327327" y="120192"/>
                  </a:lnTo>
                  <a:lnTo>
                    <a:pt x="1659153" y="120192"/>
                  </a:lnTo>
                  <a:lnTo>
                    <a:pt x="1990979" y="120192"/>
                  </a:lnTo>
                  <a:lnTo>
                    <a:pt x="1990979" y="0"/>
                  </a:lnTo>
                  <a:close/>
                </a:path>
                <a:path w="3650615" h="120650">
                  <a:moveTo>
                    <a:pt x="2986468" y="0"/>
                  </a:moveTo>
                  <a:lnTo>
                    <a:pt x="2654643" y="0"/>
                  </a:lnTo>
                  <a:lnTo>
                    <a:pt x="2322817" y="0"/>
                  </a:lnTo>
                  <a:lnTo>
                    <a:pt x="1990991" y="0"/>
                  </a:lnTo>
                  <a:lnTo>
                    <a:pt x="1990991" y="120192"/>
                  </a:lnTo>
                  <a:lnTo>
                    <a:pt x="2322817" y="120192"/>
                  </a:lnTo>
                  <a:lnTo>
                    <a:pt x="2654643" y="120192"/>
                  </a:lnTo>
                  <a:lnTo>
                    <a:pt x="2986468" y="120192"/>
                  </a:lnTo>
                  <a:lnTo>
                    <a:pt x="2986468" y="0"/>
                  </a:lnTo>
                  <a:close/>
                </a:path>
                <a:path w="3650615" h="120650">
                  <a:moveTo>
                    <a:pt x="3650132" y="0"/>
                  </a:moveTo>
                  <a:lnTo>
                    <a:pt x="3318306" y="0"/>
                  </a:lnTo>
                  <a:lnTo>
                    <a:pt x="2986481" y="0"/>
                  </a:lnTo>
                  <a:lnTo>
                    <a:pt x="2986481" y="120192"/>
                  </a:lnTo>
                  <a:lnTo>
                    <a:pt x="3318306" y="120192"/>
                  </a:lnTo>
                  <a:lnTo>
                    <a:pt x="3650132" y="120192"/>
                  </a:lnTo>
                  <a:lnTo>
                    <a:pt x="3650132" y="0"/>
                  </a:lnTo>
                  <a:close/>
                </a:path>
              </a:pathLst>
            </a:custGeom>
            <a:solidFill>
              <a:srgbClr val="B0D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993" y="2629191"/>
              <a:ext cx="5256530" cy="0"/>
            </a:xfrm>
            <a:custGeom>
              <a:avLst/>
              <a:gdLst/>
              <a:ahLst/>
              <a:cxnLst/>
              <a:rect l="l" t="t" r="r" b="b"/>
              <a:pathLst>
                <a:path w="5256530">
                  <a:moveTo>
                    <a:pt x="0" y="0"/>
                  </a:moveTo>
                  <a:lnTo>
                    <a:pt x="5255996" y="0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4" name="object 14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17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Team</a:t>
            </a:r>
            <a:r>
              <a:rPr spc="-45" dirty="0"/>
              <a:t> </a:t>
            </a:r>
            <a:r>
              <a:rPr spc="-40" dirty="0"/>
              <a:t>Responsibilities</a:t>
            </a:r>
          </a:p>
        </p:txBody>
      </p:sp>
      <p:sp>
        <p:nvSpPr>
          <p:cNvPr id="3" name="object 3"/>
          <p:cNvSpPr/>
          <p:nvPr/>
        </p:nvSpPr>
        <p:spPr>
          <a:xfrm>
            <a:off x="251993" y="919276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5213" y="931867"/>
            <a:ext cx="98521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 Member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5012" y="931867"/>
            <a:ext cx="8255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Responsibilities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1582" y="931867"/>
            <a:ext cx="804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Current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Status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993" y="1144714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5213" y="1155235"/>
            <a:ext cx="878840" cy="10863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Vedanth M S</a:t>
            </a:r>
          </a:p>
          <a:p>
            <a:pPr marL="12700" marR="104775">
              <a:lnSpc>
                <a:spcPct val="199200"/>
              </a:lnSpc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Siddharth S Vijay K</a:t>
            </a: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Members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54861" y="1155235"/>
            <a:ext cx="2810510" cy="108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Literature </a:t>
            </a:r>
            <a:r>
              <a:rPr sz="1000" spc="-45" dirty="0">
                <a:latin typeface="Tahoma"/>
                <a:cs typeface="Tahoma"/>
              </a:rPr>
              <a:t>review,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CKP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design,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methodology,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presen-</a:t>
            </a:r>
            <a:r>
              <a:rPr sz="1000" spc="-10" dirty="0">
                <a:latin typeface="Tahoma"/>
                <a:cs typeface="Tahoma"/>
              </a:rPr>
              <a:t>tation</a:t>
            </a:r>
            <a:endParaRPr sz="1000">
              <a:latin typeface="Tahoma"/>
              <a:cs typeface="Tahoma"/>
            </a:endParaRPr>
          </a:p>
          <a:p>
            <a:pPr marL="12700" marR="5715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Tahoma"/>
                <a:cs typeface="Tahoma"/>
              </a:rPr>
              <a:t>Dataset</a:t>
            </a:r>
            <a:r>
              <a:rPr sz="1000" spc="1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preparation,</a:t>
            </a:r>
            <a:r>
              <a:rPr sz="1000" spc="2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preprocessing,</a:t>
            </a:r>
            <a:r>
              <a:rPr sz="1000" spc="2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lead</a:t>
            </a:r>
            <a:r>
              <a:rPr sz="1000" spc="1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masking,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model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representation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50"/>
              </a:lnSpc>
            </a:pPr>
            <a:r>
              <a:rPr sz="1000" spc="-25" dirty="0">
                <a:latin typeface="Tahoma"/>
                <a:cs typeface="Tahoma"/>
              </a:rPr>
              <a:t>Reasoning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pipeline,</a:t>
            </a:r>
            <a:r>
              <a:rPr sz="1000" spc="15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grounding,</a:t>
            </a:r>
            <a:r>
              <a:rPr sz="1000" spc="1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evaluation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metrics,</a:t>
            </a:r>
            <a:endParaRPr sz="1000">
              <a:latin typeface="Tahoma"/>
              <a:cs typeface="Tahoma"/>
            </a:endParaRPr>
          </a:p>
          <a:p>
            <a:pPr marL="12700" marR="904875">
              <a:lnSpc>
                <a:spcPts val="1200"/>
              </a:lnSpc>
              <a:spcBef>
                <a:spcPts val="40"/>
              </a:spcBef>
            </a:pPr>
            <a:r>
              <a:rPr sz="1000" spc="-40" dirty="0">
                <a:latin typeface="Tahoma"/>
                <a:cs typeface="Tahoma"/>
              </a:rPr>
              <a:t>experiments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analysis </a:t>
            </a:r>
            <a:r>
              <a:rPr sz="1000" spc="-20" dirty="0">
                <a:latin typeface="Tahoma"/>
                <a:cs typeface="Tahoma"/>
              </a:rPr>
              <a:t>Validation,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Testing,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Documentation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0557" y="1155235"/>
            <a:ext cx="616585" cy="108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algn="just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latin typeface="Tahoma"/>
                <a:cs typeface="Tahoma"/>
              </a:rPr>
              <a:t>In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Progress</a:t>
            </a:r>
            <a:endParaRPr sz="1000">
              <a:latin typeface="Tahoma"/>
              <a:cs typeface="Tahoma"/>
            </a:endParaRPr>
          </a:p>
          <a:p>
            <a:pPr marL="12700" marR="170815" indent="635" algn="just">
              <a:lnSpc>
                <a:spcPct val="199300"/>
              </a:lnSpc>
            </a:pPr>
            <a:r>
              <a:rPr sz="1000" spc="-35" dirty="0">
                <a:latin typeface="Tahoma"/>
                <a:cs typeface="Tahoma"/>
              </a:rPr>
              <a:t>Planned Planned Planned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1993" y="2281123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3" name="object 13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18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Challenges,</a:t>
            </a:r>
            <a:r>
              <a:rPr spc="-60" dirty="0"/>
              <a:t> </a:t>
            </a:r>
            <a:r>
              <a:rPr spc="-20" dirty="0"/>
              <a:t>Risks,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10" dirty="0"/>
              <a:t>Mitigation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51993" y="433425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5213" y="446003"/>
            <a:ext cx="302488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64664" algn="l"/>
              </a:tabLst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/ Challenge	Possible Impact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9906" y="446003"/>
            <a:ext cx="73939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Mitigation</a:t>
            </a:r>
          </a:p>
        </p:txBody>
      </p:sp>
      <p:sp>
        <p:nvSpPr>
          <p:cNvPr id="6" name="object 6"/>
          <p:cNvSpPr/>
          <p:nvPr/>
        </p:nvSpPr>
        <p:spPr>
          <a:xfrm>
            <a:off x="251993" y="658850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5213" y="669371"/>
            <a:ext cx="1625600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Derived</a:t>
            </a:r>
            <a:r>
              <a:rPr sz="1000" spc="3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3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lead</a:t>
            </a:r>
            <a:r>
              <a:rPr sz="1000" spc="3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handling </a:t>
            </a:r>
            <a:r>
              <a:rPr sz="1000" spc="-10" dirty="0">
                <a:latin typeface="Tahoma"/>
                <a:cs typeface="Tahoma"/>
              </a:rPr>
              <a:t>complexity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000" spc="70" dirty="0">
                <a:latin typeface="Tahoma"/>
                <a:cs typeface="Tahoma"/>
              </a:rPr>
              <a:t>CKP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construction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complexity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6586" y="669371"/>
            <a:ext cx="1627505" cy="1240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Incorrect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evidence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availability </a:t>
            </a:r>
            <a:r>
              <a:rPr sz="1000" spc="-10" dirty="0">
                <a:latin typeface="Tahoma"/>
                <a:cs typeface="Tahoma"/>
              </a:rPr>
              <a:t>assessment</a:t>
            </a:r>
            <a:endParaRPr sz="1000">
              <a:latin typeface="Tahoma"/>
              <a:cs typeface="Tahoma"/>
            </a:endParaRPr>
          </a:p>
          <a:p>
            <a:pPr marL="12700" marR="6350" indent="-635">
              <a:lnSpc>
                <a:spcPct val="100000"/>
              </a:lnSpc>
              <a:spcBef>
                <a:spcPts val="1185"/>
              </a:spcBef>
            </a:pPr>
            <a:r>
              <a:rPr sz="1000" spc="-25" dirty="0">
                <a:latin typeface="Tahoma"/>
                <a:cs typeface="Tahoma"/>
              </a:rPr>
              <a:t>Limited</a:t>
            </a:r>
            <a:r>
              <a:rPr sz="1000" spc="-40" dirty="0">
                <a:latin typeface="Tahoma"/>
                <a:cs typeface="Tahoma"/>
              </a:rPr>
              <a:t> benefit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or</a:t>
            </a:r>
            <a:r>
              <a:rPr sz="1000" spc="-40" dirty="0">
                <a:latin typeface="Tahoma"/>
                <a:cs typeface="Tahoma"/>
              </a:rPr>
              <a:t> unsupported </a:t>
            </a:r>
            <a:r>
              <a:rPr sz="1000" spc="-50" dirty="0">
                <a:latin typeface="Tahoma"/>
                <a:cs typeface="Tahoma"/>
              </a:rPr>
              <a:t>knowledge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influence</a:t>
            </a:r>
            <a:endParaRPr sz="1000">
              <a:latin typeface="Tahoma"/>
              <a:cs typeface="Tahoma"/>
            </a:endParaRPr>
          </a:p>
          <a:p>
            <a:pPr marL="12700" marR="5715">
              <a:lnSpc>
                <a:spcPct val="100000"/>
              </a:lnSpc>
              <a:spcBef>
                <a:spcPts val="1190"/>
              </a:spcBef>
            </a:pPr>
            <a:r>
              <a:rPr sz="1000" spc="-30" dirty="0">
                <a:latin typeface="Tahoma"/>
                <a:cs typeface="Tahoma"/>
              </a:rPr>
              <a:t>Incorrect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claim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verification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or </a:t>
            </a:r>
            <a:r>
              <a:rPr sz="1000" spc="-30" dirty="0">
                <a:latin typeface="Tahoma"/>
                <a:cs typeface="Tahoma"/>
              </a:rPr>
              <a:t>candidate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selection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9220" y="669371"/>
            <a:ext cx="162687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Track</a:t>
            </a:r>
            <a:r>
              <a:rPr sz="1000" spc="4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direct</a:t>
            </a:r>
            <a:r>
              <a:rPr sz="1000" spc="4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46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derivable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evidence </a:t>
            </a:r>
            <a:r>
              <a:rPr sz="1000" spc="-20" dirty="0">
                <a:latin typeface="Tahoma"/>
                <a:cs typeface="Tahoma"/>
              </a:rPr>
              <a:t>using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lead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rela-</a:t>
            </a:r>
            <a:r>
              <a:rPr sz="1000" spc="-10" dirty="0">
                <a:latin typeface="Tahoma"/>
                <a:cs typeface="Tahoma"/>
              </a:rPr>
              <a:t>tionships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9220" y="1124869"/>
            <a:ext cx="1626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5134" algn="l"/>
                <a:tab pos="1385570" algn="l"/>
              </a:tabLst>
            </a:pPr>
            <a:r>
              <a:rPr sz="1000" spc="-25" dirty="0">
                <a:latin typeface="Tahoma"/>
                <a:cs typeface="Tahoma"/>
              </a:rPr>
              <a:t>Use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35" dirty="0">
                <a:latin typeface="Tahoma"/>
                <a:cs typeface="Tahoma"/>
              </a:rPr>
              <a:t>ECG-</a:t>
            </a:r>
            <a:r>
              <a:rPr sz="1000" spc="-10" dirty="0">
                <a:latin typeface="Tahoma"/>
                <a:cs typeface="Tahoma"/>
              </a:rPr>
              <a:t>relevant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10" dirty="0">
                <a:latin typeface="Tahoma"/>
                <a:cs typeface="Tahoma"/>
              </a:rPr>
              <a:t>con-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13" y="1580354"/>
            <a:ext cx="1625600" cy="1240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Evidence </a:t>
            </a:r>
            <a:r>
              <a:rPr sz="1000" spc="-35" dirty="0">
                <a:latin typeface="Tahoma"/>
                <a:cs typeface="Tahoma"/>
              </a:rPr>
              <a:t>Schema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hypothe-</a:t>
            </a:r>
            <a:r>
              <a:rPr sz="1000" spc="-30" dirty="0">
                <a:latin typeface="Tahoma"/>
                <a:cs typeface="Tahoma"/>
              </a:rPr>
              <a:t>sis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space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complexity</a:t>
            </a:r>
            <a:endParaRPr sz="1000">
              <a:latin typeface="Tahoma"/>
              <a:cs typeface="Tahoma"/>
            </a:endParaRPr>
          </a:p>
          <a:p>
            <a:pPr marL="12700" marR="352425">
              <a:lnSpc>
                <a:spcPts val="2390"/>
              </a:lnSpc>
              <a:spcBef>
                <a:spcPts val="100"/>
              </a:spcBef>
            </a:pPr>
            <a:r>
              <a:rPr sz="1000" spc="-20" dirty="0">
                <a:latin typeface="Tahoma"/>
                <a:cs typeface="Tahoma"/>
              </a:rPr>
              <a:t>Dataset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variability </a:t>
            </a:r>
            <a:r>
              <a:rPr sz="1000" spc="-40" dirty="0">
                <a:latin typeface="Tahoma"/>
                <a:cs typeface="Tahoma"/>
              </a:rPr>
              <a:t>Integration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complexity </a:t>
            </a:r>
            <a:r>
              <a:rPr sz="1000" spc="-25" dirty="0">
                <a:latin typeface="Tahoma"/>
                <a:cs typeface="Tahoma"/>
              </a:rPr>
              <a:t>Computational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1256" y="2035853"/>
            <a:ext cx="84264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8634" algn="l"/>
              </a:tabLst>
            </a:pPr>
            <a:r>
              <a:rPr sz="1000" spc="-10" dirty="0">
                <a:latin typeface="Tahoma"/>
                <a:cs typeface="Tahoma"/>
              </a:rPr>
              <a:t>results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40" dirty="0">
                <a:latin typeface="Tahoma"/>
                <a:cs typeface="Tahoma"/>
              </a:rPr>
              <a:t>across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9220" y="1276697"/>
            <a:ext cx="1626870" cy="93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cepts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relationships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from </a:t>
            </a:r>
            <a:r>
              <a:rPr sz="1000" dirty="0">
                <a:latin typeface="Tahoma"/>
                <a:cs typeface="Tahoma"/>
              </a:rPr>
              <a:t>SNOMED-</a:t>
            </a:r>
            <a:r>
              <a:rPr sz="1000" spc="-25" dirty="0">
                <a:latin typeface="Tahoma"/>
                <a:cs typeface="Tahoma"/>
              </a:rPr>
              <a:t>CT</a:t>
            </a:r>
            <a:endParaRPr sz="1000">
              <a:latin typeface="Tahoma"/>
              <a:cs typeface="Tahoma"/>
            </a:endParaRPr>
          </a:p>
          <a:p>
            <a:pPr marL="12700" marR="5715" algn="just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Tahoma"/>
                <a:cs typeface="Tahoma"/>
              </a:rPr>
              <a:t>Define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standardized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evidence </a:t>
            </a:r>
            <a:r>
              <a:rPr sz="1000" dirty="0">
                <a:latin typeface="Tahoma"/>
                <a:cs typeface="Tahoma"/>
              </a:rPr>
              <a:t>rules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controlled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hypothe-</a:t>
            </a:r>
            <a:r>
              <a:rPr sz="1000" spc="-30" dirty="0">
                <a:latin typeface="Tahoma"/>
                <a:cs typeface="Tahoma"/>
              </a:rPr>
              <a:t>sis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generation</a:t>
            </a:r>
            <a:endParaRPr sz="1000">
              <a:latin typeface="Tahoma"/>
              <a:cs typeface="Tahoma"/>
            </a:endParaRPr>
          </a:p>
          <a:p>
            <a:pPr marL="12700" algn="just">
              <a:lnSpc>
                <a:spcPts val="1145"/>
              </a:lnSpc>
            </a:pPr>
            <a:r>
              <a:rPr sz="1000" dirty="0">
                <a:latin typeface="Tahoma"/>
                <a:cs typeface="Tahoma"/>
              </a:rPr>
              <a:t>Use</a:t>
            </a:r>
            <a:r>
              <a:rPr sz="1000" spc="19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standardized</a:t>
            </a:r>
            <a:r>
              <a:rPr sz="1000" spc="19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preprocess-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6915" y="2035853"/>
            <a:ext cx="80073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Inconsistent datasets </a:t>
            </a:r>
            <a:r>
              <a:rPr sz="1000" spc="-40" dirty="0">
                <a:latin typeface="Tahoma"/>
                <a:cs typeface="Tahoma"/>
              </a:rPr>
              <a:t>Schedule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delay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7547" y="2643167"/>
            <a:ext cx="1624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Tahoma"/>
                <a:cs typeface="Tahoma"/>
              </a:rPr>
              <a:t>Longer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experimental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execution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8616" y="2187681"/>
            <a:ext cx="1626870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external </a:t>
            </a:r>
            <a:r>
              <a:rPr sz="1000" spc="-10" dirty="0">
                <a:latin typeface="Tahoma"/>
                <a:cs typeface="Tahoma"/>
              </a:rPr>
              <a:t>validation </a:t>
            </a:r>
            <a:r>
              <a:rPr sz="1000" spc="-25" dirty="0">
                <a:latin typeface="Tahoma"/>
                <a:cs typeface="Tahoma"/>
              </a:rPr>
              <a:t>Develop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test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modules </a:t>
            </a:r>
            <a:r>
              <a:rPr sz="1000" spc="-25" dirty="0">
                <a:latin typeface="Tahoma"/>
                <a:cs typeface="Tahoma"/>
              </a:rPr>
              <a:t>in-</a:t>
            </a:r>
            <a:r>
              <a:rPr sz="1000" spc="-45" dirty="0">
                <a:latin typeface="Tahoma"/>
                <a:cs typeface="Tahoma"/>
              </a:rPr>
              <a:t>dependently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before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integration </a:t>
            </a:r>
            <a:r>
              <a:rPr sz="1000" dirty="0">
                <a:latin typeface="Tahoma"/>
                <a:cs typeface="Tahoma"/>
              </a:rPr>
              <a:t>Optimize</a:t>
            </a:r>
            <a:r>
              <a:rPr sz="1000" spc="30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inference</a:t>
            </a:r>
            <a:r>
              <a:rPr sz="1000" spc="30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3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use </a:t>
            </a:r>
            <a:r>
              <a:rPr sz="1000" spc="-35" dirty="0">
                <a:latin typeface="Tahoma"/>
                <a:cs typeface="Tahoma"/>
              </a:rPr>
              <a:t>GPU-</a:t>
            </a:r>
            <a:r>
              <a:rPr sz="1000" spc="-10" dirty="0">
                <a:latin typeface="Tahoma"/>
                <a:cs typeface="Tahoma"/>
              </a:rPr>
              <a:t>based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resources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1993" y="3009912"/>
            <a:ext cx="5256530" cy="0"/>
          </a:xfrm>
          <a:custGeom>
            <a:avLst/>
            <a:gdLst/>
            <a:ahLst/>
            <a:cxnLst/>
            <a:rect l="l" t="t" r="r" b="b"/>
            <a:pathLst>
              <a:path w="5256530">
                <a:moveTo>
                  <a:pt x="0" y="0"/>
                </a:moveTo>
                <a:lnTo>
                  <a:pt x="5255996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9" name="object 19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19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Conclusion</a:t>
            </a:r>
            <a:r>
              <a:rPr spc="-55" dirty="0"/>
              <a:t> </a:t>
            </a:r>
            <a:r>
              <a:rPr spc="-35" dirty="0"/>
              <a:t>and</a:t>
            </a:r>
            <a:r>
              <a:rPr spc="-50" dirty="0"/>
              <a:t> </a:t>
            </a:r>
            <a:r>
              <a:rPr spc="-20" dirty="0"/>
              <a:t>Future</a:t>
            </a:r>
            <a:r>
              <a:rPr spc="-5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/>
          <p:nvPr/>
        </p:nvSpPr>
        <p:spPr>
          <a:xfrm>
            <a:off x="201192" y="460717"/>
            <a:ext cx="5358130" cy="187960"/>
          </a:xfrm>
          <a:custGeom>
            <a:avLst/>
            <a:gdLst/>
            <a:ahLst/>
            <a:cxnLst/>
            <a:rect l="l" t="t" r="r" b="b"/>
            <a:pathLst>
              <a:path w="5358130" h="187959">
                <a:moveTo>
                  <a:pt x="530687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357673" y="187819"/>
                </a:lnTo>
                <a:lnTo>
                  <a:pt x="5357673" y="50800"/>
                </a:lnTo>
                <a:lnTo>
                  <a:pt x="5353664" y="31075"/>
                </a:lnTo>
                <a:lnTo>
                  <a:pt x="5342750" y="14922"/>
                </a:lnTo>
                <a:lnTo>
                  <a:pt x="5326598" y="4008"/>
                </a:lnTo>
                <a:lnTo>
                  <a:pt x="530687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993" y="429040"/>
            <a:ext cx="66611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Conclusion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192" y="635888"/>
            <a:ext cx="5358130" cy="1105349"/>
            <a:chOff x="201192" y="635888"/>
            <a:chExt cx="5358130" cy="110534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92" y="635888"/>
              <a:ext cx="535767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1192" y="680152"/>
              <a:ext cx="5358130" cy="1061085"/>
            </a:xfrm>
            <a:custGeom>
              <a:avLst/>
              <a:gdLst/>
              <a:ahLst/>
              <a:cxnLst/>
              <a:rect l="l" t="t" r="r" b="b"/>
              <a:pathLst>
                <a:path w="5358130" h="1061085">
                  <a:moveTo>
                    <a:pt x="5357673" y="0"/>
                  </a:moveTo>
                  <a:lnTo>
                    <a:pt x="0" y="0"/>
                  </a:lnTo>
                  <a:lnTo>
                    <a:pt x="0" y="1010166"/>
                  </a:lnTo>
                  <a:lnTo>
                    <a:pt x="4008" y="1029891"/>
                  </a:lnTo>
                  <a:lnTo>
                    <a:pt x="14922" y="1046044"/>
                  </a:lnTo>
                  <a:lnTo>
                    <a:pt x="31075" y="1056958"/>
                  </a:lnTo>
                  <a:lnTo>
                    <a:pt x="50800" y="1060967"/>
                  </a:lnTo>
                  <a:lnTo>
                    <a:pt x="5306873" y="1060967"/>
                  </a:lnTo>
                  <a:lnTo>
                    <a:pt x="5326598" y="1056958"/>
                  </a:lnTo>
                  <a:lnTo>
                    <a:pt x="5342750" y="1046044"/>
                  </a:lnTo>
                  <a:lnTo>
                    <a:pt x="5353664" y="1029891"/>
                  </a:lnTo>
                  <a:lnTo>
                    <a:pt x="5357673" y="1010166"/>
                  </a:lnTo>
                  <a:lnTo>
                    <a:pt x="5357673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01192" y="1855088"/>
            <a:ext cx="5358130" cy="187960"/>
          </a:xfrm>
          <a:custGeom>
            <a:avLst/>
            <a:gdLst/>
            <a:ahLst/>
            <a:cxnLst/>
            <a:rect l="l" t="t" r="r" b="b"/>
            <a:pathLst>
              <a:path w="5358130" h="187960">
                <a:moveTo>
                  <a:pt x="530687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19"/>
                </a:lnTo>
                <a:lnTo>
                  <a:pt x="5357673" y="187819"/>
                </a:lnTo>
                <a:lnTo>
                  <a:pt x="5357673" y="50800"/>
                </a:lnTo>
                <a:lnTo>
                  <a:pt x="5353664" y="31075"/>
                </a:lnTo>
                <a:lnTo>
                  <a:pt x="5342750" y="14922"/>
                </a:lnTo>
                <a:lnTo>
                  <a:pt x="5326598" y="4008"/>
                </a:lnTo>
                <a:lnTo>
                  <a:pt x="5306873" y="0"/>
                </a:lnTo>
                <a:close/>
              </a:path>
            </a:pathLst>
          </a:custGeom>
          <a:solidFill>
            <a:srgbClr val="103E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1993" y="1823411"/>
            <a:ext cx="781685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Future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1192" y="2030259"/>
            <a:ext cx="5358130" cy="1039943"/>
            <a:chOff x="201192" y="2030259"/>
            <a:chExt cx="5358130" cy="1039943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92" y="2030259"/>
              <a:ext cx="5357672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1192" y="2074522"/>
              <a:ext cx="5358130" cy="995680"/>
            </a:xfrm>
            <a:custGeom>
              <a:avLst/>
              <a:gdLst/>
              <a:ahLst/>
              <a:cxnLst/>
              <a:rect l="l" t="t" r="r" b="b"/>
              <a:pathLst>
                <a:path w="5358130" h="995680">
                  <a:moveTo>
                    <a:pt x="5357673" y="0"/>
                  </a:moveTo>
                  <a:lnTo>
                    <a:pt x="0" y="0"/>
                  </a:lnTo>
                  <a:lnTo>
                    <a:pt x="0" y="944267"/>
                  </a:lnTo>
                  <a:lnTo>
                    <a:pt x="4008" y="963992"/>
                  </a:lnTo>
                  <a:lnTo>
                    <a:pt x="14922" y="980145"/>
                  </a:lnTo>
                  <a:lnTo>
                    <a:pt x="31075" y="991059"/>
                  </a:lnTo>
                  <a:lnTo>
                    <a:pt x="50800" y="995068"/>
                  </a:lnTo>
                  <a:lnTo>
                    <a:pt x="5306873" y="995068"/>
                  </a:lnTo>
                  <a:lnTo>
                    <a:pt x="5326598" y="991059"/>
                  </a:lnTo>
                  <a:lnTo>
                    <a:pt x="5342750" y="980145"/>
                  </a:lnTo>
                  <a:lnTo>
                    <a:pt x="5353664" y="963992"/>
                  </a:lnTo>
                  <a:lnTo>
                    <a:pt x="5357673" y="944267"/>
                  </a:lnTo>
                  <a:lnTo>
                    <a:pt x="5357673" y="0"/>
                  </a:lnTo>
                  <a:close/>
                </a:path>
              </a:pathLst>
            </a:custGeom>
            <a:solidFill>
              <a:srgbClr val="E7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9293" y="650441"/>
            <a:ext cx="5212080" cy="235878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08305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</a:t>
            </a:r>
            <a:r>
              <a:rPr sz="1100" spc="-100" dirty="0">
                <a:latin typeface="Arial Black"/>
                <a:cs typeface="Arial Black"/>
              </a:rPr>
              <a:t>:</a:t>
            </a:r>
            <a:r>
              <a:rPr sz="1100" spc="55" dirty="0">
                <a:latin typeface="Arial Black"/>
                <a:cs typeface="Arial Black"/>
              </a:rPr>
              <a:t> </a:t>
            </a:r>
            <a:r>
              <a:rPr sz="1000" spc="-20" dirty="0">
                <a:latin typeface="Tahoma"/>
                <a:cs typeface="Tahoma"/>
              </a:rPr>
              <a:t>How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does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reasoning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degrade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as </a:t>
            </a:r>
            <a:r>
              <a:rPr sz="1000" spc="-35" dirty="0">
                <a:latin typeface="Tahoma"/>
                <a:cs typeface="Tahoma"/>
              </a:rPr>
              <a:t>physiological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evidence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lost? </a:t>
            </a: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</a:t>
            </a:r>
            <a:r>
              <a:rPr sz="1100" spc="-120" dirty="0">
                <a:latin typeface="Arial Black"/>
                <a:cs typeface="Arial Black"/>
              </a:rPr>
              <a:t>:</a:t>
            </a:r>
            <a:r>
              <a:rPr sz="1100" spc="80" dirty="0">
                <a:latin typeface="Arial Black"/>
                <a:cs typeface="Arial Black"/>
              </a:rPr>
              <a:t> </a:t>
            </a:r>
            <a:r>
              <a:rPr sz="1000" spc="-55" dirty="0">
                <a:latin typeface="Tahoma"/>
                <a:cs typeface="Tahoma"/>
              </a:rPr>
              <a:t>Compare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ECG-</a:t>
            </a:r>
            <a:r>
              <a:rPr sz="1000" dirty="0">
                <a:latin typeface="Tahoma"/>
                <a:cs typeface="Tahoma"/>
              </a:rPr>
              <a:t>only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CKP-</a:t>
            </a:r>
            <a:r>
              <a:rPr sz="1000" spc="-10" dirty="0">
                <a:latin typeface="Tahoma"/>
                <a:cs typeface="Tahoma"/>
              </a:rPr>
              <a:t>assisted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reasoning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under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progressive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lead </a:t>
            </a:r>
            <a:r>
              <a:rPr sz="1000" spc="-10" dirty="0">
                <a:latin typeface="Tahoma"/>
                <a:cs typeface="Tahoma"/>
              </a:rPr>
              <a:t>masking.</a:t>
            </a:r>
            <a:endParaRPr sz="1000" dirty="0">
              <a:latin typeface="Tahoma"/>
              <a:cs typeface="Tahoma"/>
            </a:endParaRPr>
          </a:p>
          <a:p>
            <a:pPr marL="12700" marR="182245">
              <a:lnSpc>
                <a:spcPct val="102600"/>
              </a:lnSpc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work: </a:t>
            </a:r>
            <a:r>
              <a:rPr sz="1000" spc="-50" dirty="0">
                <a:latin typeface="Tahoma"/>
                <a:cs typeface="Tahoma"/>
              </a:rPr>
              <a:t>Framework,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datasets,</a:t>
            </a:r>
            <a:r>
              <a:rPr sz="1000" dirty="0">
                <a:latin typeface="Tahoma"/>
                <a:cs typeface="Tahoma"/>
              </a:rPr>
              <a:t> CKP,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grounding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approach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established. </a:t>
            </a: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Evaluation: </a:t>
            </a:r>
            <a:r>
              <a:rPr sz="1000" spc="-35" dirty="0">
                <a:latin typeface="Tahoma"/>
                <a:cs typeface="Tahoma"/>
              </a:rPr>
              <a:t>Measure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grounding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quality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diagnostic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performance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across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lead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levels. </a:t>
            </a: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Outcome: </a:t>
            </a:r>
            <a:r>
              <a:rPr sz="1000" spc="-30" dirty="0">
                <a:latin typeface="Tahoma"/>
                <a:cs typeface="Tahoma"/>
              </a:rPr>
              <a:t>Compute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AURDC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identify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Reasoning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Failure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Boundary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(RFB).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9560" indent="-177165">
              <a:lnSpc>
                <a:spcPct val="100000"/>
              </a:lnSpc>
              <a:buClr>
                <a:srgbClr val="1E87E5"/>
              </a:buClr>
              <a:buFont typeface="Lucida Sans Unicode"/>
              <a:buChar char="►"/>
              <a:tabLst>
                <a:tab pos="28956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Broaden disease coverage: </a:t>
            </a:r>
            <a:r>
              <a:rPr sz="1000" spc="-25" dirty="0">
                <a:latin typeface="Tahoma"/>
                <a:cs typeface="Tahoma"/>
              </a:rPr>
              <a:t>Evaluate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more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conditions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categories.</a:t>
            </a:r>
            <a:endParaRPr sz="1000" dirty="0">
              <a:latin typeface="Tahoma"/>
              <a:cs typeface="Tahoma"/>
            </a:endParaRPr>
          </a:p>
          <a:p>
            <a:pPr marL="289560" indent="-177165">
              <a:lnSpc>
                <a:spcPct val="100000"/>
              </a:lnSpc>
              <a:spcBef>
                <a:spcPts val="335"/>
              </a:spcBef>
              <a:buClr>
                <a:srgbClr val="1E87E5"/>
              </a:buClr>
              <a:buFont typeface="Lucida Sans Unicode"/>
              <a:buChar char="►"/>
              <a:tabLst>
                <a:tab pos="28956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Expand validation: </a:t>
            </a:r>
            <a:r>
              <a:rPr sz="1000" spc="-20" dirty="0">
                <a:latin typeface="Tahoma"/>
                <a:cs typeface="Tahoma"/>
              </a:rPr>
              <a:t>Test </a:t>
            </a:r>
            <a:r>
              <a:rPr sz="1000" spc="-40" dirty="0">
                <a:latin typeface="Tahoma"/>
                <a:cs typeface="Tahoma"/>
              </a:rPr>
              <a:t>across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more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datasets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diverse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patient </a:t>
            </a:r>
            <a:r>
              <a:rPr sz="1000" spc="-10" dirty="0">
                <a:latin typeface="Tahoma"/>
                <a:cs typeface="Tahoma"/>
              </a:rPr>
              <a:t>populations.</a:t>
            </a:r>
            <a:endParaRPr sz="1000" dirty="0">
              <a:latin typeface="Tahoma"/>
              <a:cs typeface="Tahoma"/>
            </a:endParaRPr>
          </a:p>
          <a:p>
            <a:pPr marL="289560" indent="-177165">
              <a:lnSpc>
                <a:spcPct val="100000"/>
              </a:lnSpc>
              <a:spcBef>
                <a:spcPts val="334"/>
              </a:spcBef>
              <a:buClr>
                <a:srgbClr val="1E87E5"/>
              </a:buClr>
              <a:buFont typeface="Lucida Sans Unicode"/>
              <a:buChar char="►"/>
              <a:tabLst>
                <a:tab pos="28956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 CKP coverage: </a:t>
            </a:r>
            <a:r>
              <a:rPr sz="1000" dirty="0">
                <a:latin typeface="Tahoma"/>
                <a:cs typeface="Tahoma"/>
              </a:rPr>
              <a:t>Add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more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ECG </a:t>
            </a:r>
            <a:r>
              <a:rPr sz="1000" spc="-35" dirty="0">
                <a:latin typeface="Tahoma"/>
                <a:cs typeface="Tahoma"/>
              </a:rPr>
              <a:t>findings,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relationships,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evidence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rules.</a:t>
            </a:r>
            <a:endParaRPr sz="1000" dirty="0">
              <a:latin typeface="Tahoma"/>
              <a:cs typeface="Tahoma"/>
            </a:endParaRPr>
          </a:p>
          <a:p>
            <a:pPr marL="289560" marR="236220" indent="-177165">
              <a:lnSpc>
                <a:spcPct val="102600"/>
              </a:lnSpc>
              <a:spcBef>
                <a:spcPts val="295"/>
              </a:spcBef>
              <a:buClr>
                <a:srgbClr val="1E87E5"/>
              </a:buClr>
              <a:buFont typeface="Lucida Sans Unicode"/>
              <a:buChar char="►"/>
              <a:tabLst>
                <a:tab pos="289560" algn="l"/>
              </a:tabLst>
            </a:pPr>
            <a:r>
              <a: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Extend degradation analysis: </a:t>
            </a:r>
            <a:r>
              <a:rPr sz="1000" spc="-10" dirty="0">
                <a:latin typeface="Tahoma"/>
                <a:cs typeface="Tahoma"/>
              </a:rPr>
              <a:t>Study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finer-</a:t>
            </a:r>
            <a:r>
              <a:rPr sz="1000" spc="-45" dirty="0">
                <a:latin typeface="Tahoma"/>
                <a:cs typeface="Tahoma"/>
              </a:rPr>
              <a:t>grained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and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alternative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lead-</a:t>
            </a:r>
            <a:r>
              <a:rPr sz="1000" spc="-20" dirty="0">
                <a:latin typeface="Tahoma"/>
                <a:cs typeface="Tahoma"/>
              </a:rPr>
              <a:t>masking </a:t>
            </a:r>
            <a:r>
              <a:rPr sz="1000" spc="-10" dirty="0">
                <a:latin typeface="Tahoma"/>
                <a:cs typeface="Tahoma"/>
              </a:rPr>
              <a:t>patterns.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17" name="object 17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Computer</a:t>
            </a:r>
            <a:r>
              <a:rPr spc="15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20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920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References</a:t>
            </a:r>
            <a:r>
              <a:rPr spc="45" dirty="0"/>
              <a:t> </a:t>
            </a:r>
            <a:r>
              <a:rPr spc="-50" dirty="0"/>
              <a:t>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7413" y="535424"/>
            <a:ext cx="106680" cy="144780"/>
            <a:chOff x="287413" y="535424"/>
            <a:chExt cx="106680" cy="144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953" y="537964"/>
              <a:ext cx="101219" cy="139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9953" y="537964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2606" y="556942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5258" y="575921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2606" y="607551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889" y="604387"/>
              <a:ext cx="31635" cy="442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6889" y="658160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868" y="5379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87413" y="1192598"/>
            <a:ext cx="106680" cy="144780"/>
            <a:chOff x="287413" y="1192598"/>
            <a:chExt cx="106680" cy="14478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953" y="1195138"/>
              <a:ext cx="101219" cy="1391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9953" y="1195138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2606" y="1214117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5258" y="123309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2606" y="1264726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889" y="1261561"/>
              <a:ext cx="31635" cy="4428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6889" y="1315335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868" y="11951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87413" y="1849785"/>
            <a:ext cx="106680" cy="144780"/>
            <a:chOff x="287413" y="1849785"/>
            <a:chExt cx="106680" cy="14478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953" y="1852325"/>
              <a:ext cx="101219" cy="1391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9953" y="1852325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2606" y="1871304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5258" y="1890282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2606" y="1921913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889" y="1918748"/>
              <a:ext cx="31635" cy="4428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6889" y="1972522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5868" y="185232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287413" y="2367792"/>
            <a:ext cx="106680" cy="144780"/>
            <a:chOff x="287413" y="2367792"/>
            <a:chExt cx="106680" cy="144780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953" y="2370332"/>
              <a:ext cx="101219" cy="13917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89953" y="2370332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2606" y="2389311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5258" y="240828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2606" y="2439920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889" y="2436756"/>
              <a:ext cx="31635" cy="4428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46889" y="249052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5868" y="23703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5711" y="531591"/>
            <a:ext cx="5027295" cy="24123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N.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Strodthoff,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P.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03E6D"/>
                </a:solidFill>
                <a:latin typeface="Arial"/>
                <a:cs typeface="Arial"/>
              </a:rPr>
              <a:t>Wagner,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T.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03E6D"/>
                </a:solidFill>
                <a:latin typeface="Arial"/>
                <a:cs typeface="Arial"/>
              </a:rPr>
              <a:t>Schaeffter,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W.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103E6D"/>
                </a:solidFill>
                <a:latin typeface="Arial"/>
                <a:cs typeface="Arial"/>
              </a:rPr>
              <a:t>Samek,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“Deep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103E6D"/>
                </a:solidFill>
                <a:latin typeface="Arial"/>
                <a:cs typeface="Arial"/>
              </a:rPr>
              <a:t>Learning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103E6D"/>
                </a:solidFill>
                <a:latin typeface="Arial"/>
                <a:cs typeface="Arial"/>
              </a:rPr>
              <a:t>ECG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Analysis: </a:t>
            </a:r>
            <a:r>
              <a:rPr sz="900" spc="-40" dirty="0">
                <a:solidFill>
                  <a:srgbClr val="103E6D"/>
                </a:solidFill>
                <a:latin typeface="Arial"/>
                <a:cs typeface="Arial"/>
              </a:rPr>
              <a:t>Benchmarks</a:t>
            </a:r>
            <a:r>
              <a:rPr sz="900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Insights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from</a:t>
            </a:r>
            <a:r>
              <a:rPr sz="900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PTB-XL,”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IEEE</a:t>
            </a:r>
            <a:r>
              <a:rPr sz="900" i="1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Journal</a:t>
            </a:r>
            <a:r>
              <a:rPr sz="900" i="1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03E6D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103E6D"/>
                </a:solidFill>
                <a:latin typeface="Arial"/>
                <a:cs typeface="Arial"/>
              </a:rPr>
              <a:t>Biomedical</a:t>
            </a:r>
            <a:r>
              <a:rPr sz="900" i="1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and</a:t>
            </a:r>
            <a:r>
              <a:rPr sz="900" i="1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03E6D"/>
                </a:solidFill>
                <a:latin typeface="Arial"/>
                <a:cs typeface="Arial"/>
              </a:rPr>
              <a:t>Health</a:t>
            </a:r>
            <a:r>
              <a:rPr sz="900" i="1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Informatics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vol.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03E6D"/>
                </a:solidFill>
                <a:latin typeface="Arial"/>
                <a:cs typeface="Arial"/>
              </a:rPr>
              <a:t>25,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no.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5,</a:t>
            </a:r>
            <a:r>
              <a:rPr sz="900" spc="-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pp.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103E6D"/>
                </a:solidFill>
                <a:latin typeface="Arial"/>
                <a:cs typeface="Arial"/>
              </a:rPr>
              <a:t>1519–</a:t>
            </a:r>
            <a:r>
              <a:rPr sz="900" spc="-25" dirty="0">
                <a:solidFill>
                  <a:srgbClr val="103E6D"/>
                </a:solidFill>
                <a:latin typeface="Arial"/>
                <a:cs typeface="Arial"/>
              </a:rPr>
              <a:t>1528,</a:t>
            </a:r>
            <a:r>
              <a:rPr sz="900" spc="-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2021.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55" dirty="0">
                <a:solidFill>
                  <a:srgbClr val="103E6D"/>
                </a:solidFill>
                <a:latin typeface="Palatino Linotype"/>
                <a:cs typeface="Palatino Linotype"/>
                <a:hlinkClick r:id="rId7"/>
              </a:rPr>
              <a:t>https://doi.org/10.1109/JBHI.2020.3022989</a:t>
            </a:r>
            <a:endParaRPr sz="900">
              <a:latin typeface="Palatino Linotype"/>
              <a:cs typeface="Palatino Linotype"/>
            </a:endParaRPr>
          </a:p>
          <a:p>
            <a:pPr marL="12700" marR="210185">
              <a:lnSpc>
                <a:spcPct val="101499"/>
              </a:lnSpc>
              <a:spcBef>
                <a:spcPts val="790"/>
              </a:spcBef>
            </a:pP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C.</a:t>
            </a:r>
            <a:r>
              <a:rPr sz="900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Liu,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C.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103E6D"/>
                </a:solidFill>
                <a:latin typeface="Arial"/>
                <a:cs typeface="Arial"/>
              </a:rPr>
              <a:t>Ouyang,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Z.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Wan,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H.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Wang,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W.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Bai,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R.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Arcucci,</a:t>
            </a:r>
            <a:r>
              <a:rPr sz="900" spc="1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103E6D"/>
                </a:solidFill>
                <a:latin typeface="Arial"/>
                <a:cs typeface="Arial"/>
              </a:rPr>
              <a:t>“Knowledge-</a:t>
            </a:r>
            <a:r>
              <a:rPr sz="900" spc="-45" dirty="0">
                <a:solidFill>
                  <a:srgbClr val="103E6D"/>
                </a:solidFill>
                <a:latin typeface="Arial"/>
                <a:cs typeface="Arial"/>
              </a:rPr>
              <a:t>enhanced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Multimodal </a:t>
            </a:r>
            <a:r>
              <a:rPr sz="900" spc="-45" dirty="0">
                <a:solidFill>
                  <a:srgbClr val="103E6D"/>
                </a:solidFill>
                <a:latin typeface="Arial"/>
                <a:cs typeface="Arial"/>
              </a:rPr>
              <a:t>ECG</a:t>
            </a:r>
            <a:r>
              <a:rPr sz="900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103E6D"/>
                </a:solidFill>
                <a:latin typeface="Arial"/>
                <a:cs typeface="Arial"/>
              </a:rPr>
              <a:t>Representation</a:t>
            </a:r>
            <a:r>
              <a:rPr sz="900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103E6D"/>
                </a:solidFill>
                <a:latin typeface="Arial"/>
                <a:cs typeface="Arial"/>
              </a:rPr>
              <a:t>Learning</a:t>
            </a:r>
            <a:r>
              <a:rPr sz="900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Arbitrary-Lead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Inputs,”</a:t>
            </a:r>
            <a:r>
              <a:rPr sz="900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103E6D"/>
                </a:solidFill>
                <a:latin typeface="Arial"/>
                <a:cs typeface="Arial"/>
              </a:rPr>
              <a:t>Findings</a:t>
            </a:r>
            <a:r>
              <a:rPr sz="900" i="1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03E6D"/>
                </a:solidFill>
                <a:latin typeface="Arial"/>
                <a:cs typeface="Arial"/>
              </a:rPr>
              <a:t>of</a:t>
            </a:r>
            <a:r>
              <a:rPr sz="900" i="1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03E6D"/>
                </a:solidFill>
                <a:latin typeface="Arial"/>
                <a:cs typeface="Arial"/>
              </a:rPr>
              <a:t>the</a:t>
            </a:r>
            <a:r>
              <a:rPr sz="900" i="1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103E6D"/>
                </a:solidFill>
                <a:latin typeface="Arial"/>
                <a:cs typeface="Arial"/>
              </a:rPr>
              <a:t>Association</a:t>
            </a:r>
            <a:r>
              <a:rPr sz="900" i="1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103E6D"/>
                </a:solidFill>
                <a:latin typeface="Arial"/>
                <a:cs typeface="Arial"/>
              </a:rPr>
              <a:t>for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Computational Linguistics:</a:t>
            </a:r>
            <a:r>
              <a:rPr sz="900" i="1" spc="7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03E6D"/>
                </a:solidFill>
                <a:latin typeface="Arial"/>
                <a:cs typeface="Arial"/>
              </a:rPr>
              <a:t>EMNLP</a:t>
            </a:r>
            <a:r>
              <a:rPr sz="900" i="1" spc="-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103E6D"/>
                </a:solidFill>
                <a:latin typeface="Arial"/>
                <a:cs typeface="Arial"/>
              </a:rPr>
              <a:t>2025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pp.</a:t>
            </a:r>
            <a:r>
              <a:rPr sz="900" spc="-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103E6D"/>
                </a:solidFill>
                <a:latin typeface="Arial"/>
                <a:cs typeface="Arial"/>
              </a:rPr>
              <a:t>7298–</a:t>
            </a:r>
            <a:r>
              <a:rPr sz="900" spc="-25" dirty="0">
                <a:solidFill>
                  <a:srgbClr val="103E6D"/>
                </a:solidFill>
                <a:latin typeface="Arial"/>
                <a:cs typeface="Arial"/>
              </a:rPr>
              <a:t>7316,</a:t>
            </a:r>
            <a:r>
              <a:rPr sz="900" spc="-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2025. </a:t>
            </a:r>
            <a:r>
              <a:rPr sz="900" spc="70" dirty="0">
                <a:solidFill>
                  <a:srgbClr val="103E6D"/>
                </a:solidFill>
                <a:latin typeface="Palatino Linotype"/>
                <a:cs typeface="Palatino Linotype"/>
                <a:hlinkClick r:id="rId8"/>
              </a:rPr>
              <a:t>https://aclanthology.org/2025.findings-</a:t>
            </a:r>
            <a:r>
              <a:rPr sz="900" spc="-10" dirty="0">
                <a:solidFill>
                  <a:srgbClr val="103E6D"/>
                </a:solidFill>
                <a:latin typeface="Palatino Linotype"/>
                <a:cs typeface="Palatino Linotype"/>
                <a:hlinkClick r:id="rId8"/>
              </a:rPr>
              <a:t>emnlp.385/</a:t>
            </a:r>
            <a:endParaRPr sz="900">
              <a:latin typeface="Palatino Linotype"/>
              <a:cs typeface="Palatino Linotype"/>
            </a:endParaRPr>
          </a:p>
          <a:p>
            <a:pPr marL="12700" marR="142240">
              <a:lnSpc>
                <a:spcPct val="101499"/>
              </a:lnSpc>
              <a:spcBef>
                <a:spcPts val="790"/>
              </a:spcBef>
            </a:pP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K.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McKeen,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S.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Masood,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A.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Toma,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B.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Rubin,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B.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Wang,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“ECG-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FM: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An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Open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Electrocardiogram 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Foundation</a:t>
            </a:r>
            <a:r>
              <a:rPr sz="900" spc="3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Model,”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03E6D"/>
                </a:solidFill>
                <a:latin typeface="Arial"/>
                <a:cs typeface="Arial"/>
              </a:rPr>
              <a:t>JAMIA</a:t>
            </a:r>
            <a:r>
              <a:rPr sz="900" i="1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Open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,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vol.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8,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no.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5,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Art.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ooaf122,</a:t>
            </a:r>
            <a:r>
              <a:rPr sz="900" spc="3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2025. </a:t>
            </a:r>
            <a:r>
              <a:rPr sz="900" spc="50" dirty="0">
                <a:solidFill>
                  <a:srgbClr val="103E6D"/>
                </a:solidFill>
                <a:latin typeface="Palatino Linotype"/>
                <a:cs typeface="Palatino Linotype"/>
                <a:hlinkClick r:id="rId9"/>
              </a:rPr>
              <a:t>https://doi.org/10.1093/jamiaopen/ooaf122</a:t>
            </a:r>
            <a:endParaRPr sz="900">
              <a:latin typeface="Palatino Linotype"/>
              <a:cs typeface="Palatino Linotype"/>
            </a:endParaRPr>
          </a:p>
          <a:p>
            <a:pPr marL="12700" marR="202565">
              <a:lnSpc>
                <a:spcPct val="101499"/>
              </a:lnSpc>
              <a:spcBef>
                <a:spcPts val="790"/>
              </a:spcBef>
            </a:pP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X.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Lan,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F.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Wu,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K.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He,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Q.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Zhao,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S.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Hong,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M.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103E6D"/>
                </a:solidFill>
                <a:latin typeface="Arial"/>
                <a:cs typeface="Arial"/>
              </a:rPr>
              <a:t>Feng,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“GEM: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103E6D"/>
                </a:solidFill>
                <a:latin typeface="Arial"/>
                <a:cs typeface="Arial"/>
              </a:rPr>
              <a:t>Empowering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MLLM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for</a:t>
            </a:r>
            <a:r>
              <a:rPr sz="900" spc="2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Grounded </a:t>
            </a:r>
            <a:r>
              <a:rPr sz="900" spc="-45" dirty="0">
                <a:solidFill>
                  <a:srgbClr val="103E6D"/>
                </a:solidFill>
                <a:latin typeface="Arial"/>
                <a:cs typeface="Arial"/>
              </a:rPr>
              <a:t>ECG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103E6D"/>
                </a:solidFill>
                <a:latin typeface="Arial"/>
                <a:cs typeface="Arial"/>
              </a:rPr>
              <a:t>Understanding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with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103E6D"/>
                </a:solidFill>
                <a:latin typeface="Arial"/>
                <a:cs typeface="Arial"/>
              </a:rPr>
              <a:t>Series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03E6D"/>
                </a:solidFill>
                <a:latin typeface="Arial"/>
                <a:cs typeface="Arial"/>
              </a:rPr>
              <a:t>Images,”</a:t>
            </a:r>
            <a:r>
              <a:rPr sz="900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103E6D"/>
                </a:solidFill>
                <a:latin typeface="Arial"/>
                <a:cs typeface="Arial"/>
              </a:rPr>
              <a:t>Advances</a:t>
            </a:r>
            <a:r>
              <a:rPr sz="900" i="1" spc="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03E6D"/>
                </a:solidFill>
                <a:latin typeface="Arial"/>
                <a:cs typeface="Arial"/>
              </a:rPr>
              <a:t>in</a:t>
            </a:r>
            <a:r>
              <a:rPr sz="900" i="1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Neural</a:t>
            </a:r>
            <a:r>
              <a:rPr sz="900" i="1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Information</a:t>
            </a:r>
            <a:r>
              <a:rPr sz="900" i="1" spc="20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Processing </a:t>
            </a:r>
            <a:r>
              <a:rPr sz="900" i="1" spc="-40" dirty="0">
                <a:solidFill>
                  <a:srgbClr val="103E6D"/>
                </a:solidFill>
                <a:latin typeface="Arial"/>
                <a:cs typeface="Arial"/>
              </a:rPr>
              <a:t>Systems</a:t>
            </a:r>
            <a:r>
              <a:rPr sz="900" i="1" spc="-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(NeurIPS</a:t>
            </a:r>
            <a:r>
              <a:rPr sz="900" i="1" spc="-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03E6D"/>
                </a:solidFill>
                <a:latin typeface="Arial"/>
                <a:cs typeface="Arial"/>
              </a:rPr>
              <a:t>2025)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,</a:t>
            </a:r>
            <a:r>
              <a:rPr sz="900" spc="-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vol.</a:t>
            </a:r>
            <a:r>
              <a:rPr sz="900" spc="-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03E6D"/>
                </a:solidFill>
                <a:latin typeface="Arial"/>
                <a:cs typeface="Arial"/>
              </a:rPr>
              <a:t>38,</a:t>
            </a:r>
            <a:r>
              <a:rPr sz="900" spc="-15" dirty="0">
                <a:solidFill>
                  <a:srgbClr val="103E6D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03E6D"/>
                </a:solidFill>
                <a:latin typeface="Arial"/>
                <a:cs typeface="Arial"/>
              </a:rPr>
              <a:t>2025.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103E6D"/>
                </a:solidFill>
                <a:latin typeface="Palatino Linotype"/>
                <a:cs typeface="Palatino Linotype"/>
                <a:hlinkClick r:id="rId10"/>
              </a:rPr>
              <a:t>https://openreview.net/forum?id=7MZc0QJ3d4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3111792"/>
            <a:ext cx="5069205" cy="128270"/>
            <a:chOff x="0" y="3111792"/>
            <a:chExt cx="5069205" cy="128270"/>
          </a:xfrm>
        </p:grpSpPr>
        <p:sp>
          <p:nvSpPr>
            <p:cNvPr id="41" name="object 41"/>
            <p:cNvSpPr/>
            <p:nvPr/>
          </p:nvSpPr>
          <p:spPr>
            <a:xfrm>
              <a:off x="0" y="3111792"/>
              <a:ext cx="2419350" cy="128270"/>
            </a:xfrm>
            <a:custGeom>
              <a:avLst/>
              <a:gdLst/>
              <a:ahLst/>
              <a:cxnLst/>
              <a:rect l="l" t="t" r="r" b="b"/>
              <a:pathLst>
                <a:path w="2419350" h="128269">
                  <a:moveTo>
                    <a:pt x="2419184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419184" y="128206"/>
                  </a:lnTo>
                  <a:lnTo>
                    <a:pt x="2419184" y="0"/>
                  </a:lnTo>
                  <a:close/>
                </a:path>
              </a:pathLst>
            </a:custGeom>
            <a:solidFill>
              <a:srgbClr val="08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19184" y="3111792"/>
              <a:ext cx="2649855" cy="128270"/>
            </a:xfrm>
            <a:custGeom>
              <a:avLst/>
              <a:gdLst/>
              <a:ahLst/>
              <a:cxnLst/>
              <a:rect l="l" t="t" r="r" b="b"/>
              <a:pathLst>
                <a:path w="2649854" h="128269">
                  <a:moveTo>
                    <a:pt x="2649639" y="0"/>
                  </a:moveTo>
                  <a:lnTo>
                    <a:pt x="0" y="0"/>
                  </a:lnTo>
                  <a:lnTo>
                    <a:pt x="0" y="128206"/>
                  </a:lnTo>
                  <a:lnTo>
                    <a:pt x="2649639" y="128206"/>
                  </a:lnTo>
                  <a:lnTo>
                    <a:pt x="2649639" y="0"/>
                  </a:lnTo>
                  <a:close/>
                </a:path>
              </a:pathLst>
            </a:custGeom>
            <a:solidFill>
              <a:srgbClr val="103E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5699" y="3102582"/>
            <a:ext cx="66103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Short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Project</a:t>
            </a:r>
            <a:r>
              <a:rPr sz="600" spc="20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Title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Department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Computer</a:t>
            </a:r>
            <a:r>
              <a:rPr spc="10" dirty="0"/>
              <a:t> </a:t>
            </a:r>
            <a:r>
              <a:rPr spc="-25" dirty="0"/>
              <a:t>Science</a:t>
            </a:r>
            <a:r>
              <a:rPr spc="1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21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>
                <a:solidFill>
                  <a:srgbClr val="103E6D"/>
                </a:solidFill>
                <a:latin typeface="Gill Sans MT"/>
                <a:cs typeface="Gill Sans MT"/>
              </a:rPr>
              <a:t>Thank</a:t>
            </a:r>
            <a:r>
              <a:rPr sz="2450" spc="130" dirty="0">
                <a:solidFill>
                  <a:srgbClr val="103E6D"/>
                </a:solidFill>
                <a:latin typeface="Gill Sans MT"/>
                <a:cs typeface="Gill Sans MT"/>
              </a:rPr>
              <a:t> </a:t>
            </a:r>
            <a:r>
              <a:rPr sz="2450" spc="-80" dirty="0">
                <a:solidFill>
                  <a:srgbClr val="103E6D"/>
                </a:solidFill>
                <a:latin typeface="Gill Sans MT"/>
                <a:cs typeface="Gill Sans MT"/>
              </a:rPr>
              <a:t>You</a:t>
            </a:r>
            <a:endParaRPr sz="245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473" y="1347492"/>
            <a:ext cx="1984375" cy="6959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latin typeface="Tahoma"/>
                <a:cs typeface="Tahoma"/>
              </a:rPr>
              <a:t>Questions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and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Discussion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Tahoma"/>
                <a:cs typeface="Tahoma"/>
              </a:rPr>
              <a:t>Contact: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  <a:hlinkClick r:id="rId2"/>
              </a:rPr>
              <a:t>vijay2310785@ssn.edu.in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2176</Words>
  <Application>Microsoft Office PowerPoint</Application>
  <PresentationFormat>Custom</PresentationFormat>
  <Paragraphs>349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Gill Sans MT</vt:lpstr>
      <vt:lpstr>Lucida Sans Unicode</vt:lpstr>
      <vt:lpstr>Palatino Linotype</vt:lpstr>
      <vt:lpstr>Tahoma</vt:lpstr>
      <vt:lpstr>Office Theme</vt:lpstr>
      <vt:lpstr>PowerPoint Presentation</vt:lpstr>
      <vt:lpstr>Presentation Outline</vt:lpstr>
      <vt:lpstr>Background and Motivation</vt:lpstr>
      <vt:lpstr>Problem Statement</vt:lpstr>
      <vt:lpstr>Project Objectives</vt:lpstr>
      <vt:lpstr>Scope and Expected Outcomes</vt:lpstr>
      <vt:lpstr>Literature Review</vt:lpstr>
      <vt:lpstr>Research Gap and Proposed Contribution</vt:lpstr>
      <vt:lpstr>Existing System vs. Proposed System</vt:lpstr>
      <vt:lpstr>PowerPoint Presentation</vt:lpstr>
      <vt:lpstr>System Modules</vt:lpstr>
      <vt:lpstr>Methodology / Workflow</vt:lpstr>
      <vt:lpstr>Core Algorithm / Processing Logic</vt:lpstr>
      <vt:lpstr>Technology Stack and Resources</vt:lpstr>
      <vt:lpstr>PowerPoint Presentation</vt:lpstr>
      <vt:lpstr>Testing and Validation</vt:lpstr>
      <vt:lpstr>Project Timeline</vt:lpstr>
      <vt:lpstr>Team Responsibilities</vt:lpstr>
      <vt:lpstr>Challenges, Risks, and Mitigation</vt:lpstr>
      <vt:lpstr>Conclusion and Future Work</vt:lpstr>
      <vt:lpstr>References 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Reasoning Failure Boundaries in ECG Foundation Models Under Progressive Physiological Information Loss - First Review</dc:title>
  <dc:creator>Vijay K (3122235001157) Siddharth Chandrasekar S (3122235001310) Vedanth M S (3122235001314) </dc:creator>
  <cp:lastModifiedBy>VIJAY K</cp:lastModifiedBy>
  <cp:revision>4</cp:revision>
  <dcterms:created xsi:type="dcterms:W3CDTF">2026-08-31T03:11:36Z</dcterms:created>
  <dcterms:modified xsi:type="dcterms:W3CDTF">2026-08-31T04:15:19Z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2026-08-30T00:00:00Z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2026-08-31T00:00:00Z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3-Heights(TM) PDF Security Shell 4.8.25.2 (http://www.pdf-tools.com)</vt:lpwstr>
  </property>
</Properties>
</file>